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id="{79EFF6C4-89BC-4219-B07A-8FA9531E2281}">
          <p14:sldIdLst>
            <p14:sldId id="256"/>
            <p14:sldId id="257"/>
            <p14:sldId id="258"/>
            <p14:sldId id="259"/>
            <p14:sldId id="260"/>
          </p14:sldIdLst>
        </p14:section>
        <p14:section name="Track 1" id="{15C4B4F6-1C9D-43A4-997C-B010C257DCB1}">
          <p14:sldIdLst>
            <p14:sldId id="261"/>
            <p14:sldId id="262"/>
            <p14:sldId id="263"/>
            <p14:sldId id="264"/>
            <p14:sldId id="265"/>
          </p14:sldIdLst>
        </p14:section>
        <p14:section name="Track 2" id="{0EBCB2A8-7096-4D76-8C8B-EE9EFACF99E8}">
          <p14:sldIdLst>
            <p14:sldId id="266"/>
            <p14:sldId id="267"/>
            <p14:sldId id="268"/>
            <p14:sldId id="269"/>
            <p14:sldId id="270"/>
            <p14:sldId id="2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502920"/>
            <a:ext cx="864973" cy="640080"/>
          </a:xfrm>
          <a:prstGeom prst="rect">
            <a:avLst/>
          </a:prstGeom>
        </p:spPr>
      </p:pic>
      <p:sp>
        <p:nvSpPr>
          <p:cNvPr id="4" name="TextBox 3"/>
          <p:cNvSpPr txBox="1"/>
          <p:nvPr/>
        </p:nvSpPr>
        <p:spPr>
          <a:xfrm>
            <a:off x="548640" y="2011680"/>
            <a:ext cx="10972800" cy="457200"/>
          </a:xfrm>
          <a:prstGeom prst="rect">
            <a:avLst/>
          </a:prstGeom>
          <a:noFill/>
        </p:spPr>
        <p:txBody>
          <a:bodyPr wrap="square" lIns="0" rIns="0" tIns="0" bIns="0" anchor="t">
            <a:spAutoFit/>
          </a:bodyPr>
          <a:lstStyle/>
          <a:p>
            <a:pPr algn="l"/>
            <a:r>
              <a:rPr sz="1400" b="1">
                <a:solidFill>
                  <a:srgbClr val="4AB8D2"/>
                </a:solidFill>
                <a:latin typeface="JetBrains Mono"/>
              </a:rPr>
              <a:t>SECURITY CONFERENCE  ·  AARHUS</a:t>
            </a:r>
          </a:p>
        </p:txBody>
      </p:sp>
      <p:sp>
        <p:nvSpPr>
          <p:cNvPr id="5" name="TextBox 4"/>
          <p:cNvSpPr txBox="1"/>
          <p:nvPr/>
        </p:nvSpPr>
        <p:spPr>
          <a:xfrm>
            <a:off x="548640" y="2468880"/>
            <a:ext cx="10972800" cy="1463040"/>
          </a:xfrm>
          <a:prstGeom prst="rect">
            <a:avLst/>
          </a:prstGeom>
          <a:noFill/>
        </p:spPr>
        <p:txBody>
          <a:bodyPr wrap="square" lIns="0" rIns="0" tIns="0" bIns="0" anchor="t">
            <a:spAutoFit/>
          </a:bodyPr>
          <a:lstStyle/>
          <a:p>
            <a:pPr algn="l"/>
            <a:r>
              <a:rPr sz="7200" b="1">
                <a:solidFill>
                  <a:srgbClr val="E8E8ED"/>
                </a:solidFill>
                <a:latin typeface="Inter"/>
              </a:rPr>
              <a:t>BSides Aarhus 2026</a:t>
            </a:r>
          </a:p>
        </p:txBody>
      </p:sp>
      <p:sp>
        <p:nvSpPr>
          <p:cNvPr id="6" name="TextBox 5"/>
          <p:cNvSpPr txBox="1"/>
          <p:nvPr/>
        </p:nvSpPr>
        <p:spPr>
          <a:xfrm>
            <a:off x="548640" y="4206240"/>
            <a:ext cx="10972800" cy="548640"/>
          </a:xfrm>
          <a:prstGeom prst="rect">
            <a:avLst/>
          </a:prstGeom>
          <a:noFill/>
        </p:spPr>
        <p:txBody>
          <a:bodyPr wrap="square" lIns="0" rIns="0" tIns="0" bIns="0" anchor="t">
            <a:spAutoFit/>
          </a:bodyPr>
          <a:lstStyle/>
          <a:p>
            <a:pPr algn="l"/>
            <a:r>
              <a:rPr sz="3200" b="0">
                <a:solidFill>
                  <a:srgbClr val="6DD0E7"/>
                </a:solidFill>
                <a:latin typeface="Inter"/>
              </a:rPr>
              <a:t>Talk title goes here</a:t>
            </a:r>
          </a:p>
        </p:txBody>
      </p:sp>
      <p:sp>
        <p:nvSpPr>
          <p:cNvPr id="7" name="TextBox 6"/>
          <p:cNvSpPr txBox="1"/>
          <p:nvPr/>
        </p:nvSpPr>
        <p:spPr>
          <a:xfrm>
            <a:off x="548640" y="4937760"/>
            <a:ext cx="10972800" cy="411480"/>
          </a:xfrm>
          <a:prstGeom prst="rect">
            <a:avLst/>
          </a:prstGeom>
          <a:noFill/>
        </p:spPr>
        <p:txBody>
          <a:bodyPr wrap="square" lIns="0" rIns="0" tIns="0" bIns="0" anchor="t">
            <a:spAutoFit/>
          </a:bodyPr>
          <a:lstStyle/>
          <a:p>
            <a:pPr algn="l"/>
            <a:r>
              <a:rPr sz="2000" b="0">
                <a:solidFill>
                  <a:srgbClr val="8888A0"/>
                </a:solidFill>
                <a:latin typeface="Inter"/>
              </a:rPr>
              <a:t>Speaker Name  ·  Affiliation</a:t>
            </a:r>
          </a:p>
        </p:txBody>
      </p:sp>
      <p:sp>
        <p:nvSpPr>
          <p:cNvPr id="8" name="Rectangle 7"/>
          <p:cNvSpPr/>
          <p:nvPr/>
        </p:nvSpPr>
        <p:spPr>
          <a:xfrm>
            <a:off x="0" y="6217920"/>
            <a:ext cx="12191695"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10972800" cy="365760"/>
          </a:xfrm>
          <a:prstGeom prst="rect">
            <a:avLst/>
          </a:prstGeom>
          <a:noFill/>
        </p:spPr>
        <p:txBody>
          <a:bodyPr wrap="square" lIns="0" rIns="0" tIns="0" bIns="0" anchor="t">
            <a:spAutoFit/>
          </a:bodyPr>
          <a:lstStyle/>
          <a:p>
            <a:pPr algn="l"/>
            <a:r>
              <a:rPr sz="1100" b="0">
                <a:solidFill>
                  <a:srgbClr val="8888A0"/>
                </a:solidFill>
                <a:latin typeface="JetBrains Mono"/>
              </a:rPr>
              <a:t>JUNE 20, 2026  ·  INCUBA NEXT, KATRINEBJERG  ·  BSIDESAARHUS.DK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320040"/>
            <a:ext cx="617838" cy="457200"/>
          </a:xfrm>
          <a:prstGeom prst="rect">
            <a:avLst/>
          </a:prstGeom>
        </p:spPr>
      </p:pic>
      <p:sp>
        <p:nvSpPr>
          <p:cNvPr id="4" name="Rectangle 3"/>
          <p:cNvSpPr/>
          <p:nvPr/>
        </p:nvSpPr>
        <p:spPr>
          <a:xfrm>
            <a:off x="548640" y="100584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15568"/>
            <a:ext cx="10972800" cy="640080"/>
          </a:xfrm>
          <a:prstGeom prst="rect">
            <a:avLst/>
          </a:prstGeom>
          <a:noFill/>
        </p:spPr>
        <p:txBody>
          <a:bodyPr wrap="square" lIns="0" rIns="0" tIns="0" bIns="0" anchor="t">
            <a:spAutoFit/>
          </a:bodyPr>
          <a:lstStyle/>
          <a:p>
            <a:pPr algn="l"/>
            <a:r>
              <a:rPr sz="3400" b="1">
                <a:solidFill>
                  <a:srgbClr val="E8E8ED"/>
                </a:solidFill>
                <a:latin typeface="Inter"/>
              </a:rPr>
              <a:t>Agenda</a:t>
            </a:r>
          </a:p>
        </p:txBody>
      </p:sp>
      <p:sp>
        <p:nvSpPr>
          <p:cNvPr id="6" name="TextBox 5"/>
          <p:cNvSpPr txBox="1"/>
          <p:nvPr/>
        </p:nvSpPr>
        <p:spPr>
          <a:xfrm>
            <a:off x="548640" y="1737360"/>
            <a:ext cx="10972800" cy="320040"/>
          </a:xfrm>
          <a:prstGeom prst="rect">
            <a:avLst/>
          </a:prstGeom>
          <a:noFill/>
        </p:spPr>
        <p:txBody>
          <a:bodyPr wrap="square" lIns="0" rIns="0" tIns="0" bIns="0" anchor="t">
            <a:spAutoFit/>
          </a:bodyPr>
          <a:lstStyle/>
          <a:p>
            <a:pPr algn="l"/>
            <a:r>
              <a:rPr sz="1100" b="0">
                <a:solidFill>
                  <a:srgbClr val="8888A0"/>
                </a:solidFill>
                <a:latin typeface="JetBrains Mono"/>
              </a:rPr>
              <a:t>JUNE 20, 2026  ·  INCUBA NEXT, KATRINEBJERG</a:t>
            </a:r>
          </a:p>
        </p:txBody>
      </p:sp>
      <p:sp>
        <p:nvSpPr>
          <p:cNvPr id="7" name="Rounded Rectangle 6"/>
          <p:cNvSpPr/>
          <p:nvPr/>
        </p:nvSpPr>
        <p:spPr>
          <a:xfrm>
            <a:off x="10012680" y="429768"/>
            <a:ext cx="1700784" cy="17007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_discord_qr.png"/>
          <p:cNvPicPr>
            <a:picLocks noChangeAspect="1"/>
          </p:cNvPicPr>
          <p:nvPr/>
        </p:nvPicPr>
        <p:blipFill>
          <a:blip r:embed="rId4"/>
          <a:stretch>
            <a:fillRect/>
          </a:stretch>
        </p:blipFill>
        <p:spPr>
          <a:xfrm>
            <a:off x="10085832" y="502920"/>
            <a:ext cx="1554480" cy="1554480"/>
          </a:xfrm>
          <a:prstGeom prst="rect">
            <a:avLst/>
          </a:prstGeom>
        </p:spPr>
      </p:pic>
      <p:sp>
        <p:nvSpPr>
          <p:cNvPr id="9" name="TextBox 8"/>
          <p:cNvSpPr txBox="1"/>
          <p:nvPr/>
        </p:nvSpPr>
        <p:spPr>
          <a:xfrm>
            <a:off x="8119872" y="548640"/>
            <a:ext cx="1645920" cy="274320"/>
          </a:xfrm>
          <a:prstGeom prst="rect">
            <a:avLst/>
          </a:prstGeom>
          <a:noFill/>
        </p:spPr>
        <p:txBody>
          <a:bodyPr wrap="square" lIns="0" rIns="0" tIns="0" bIns="0" anchor="t">
            <a:spAutoFit/>
          </a:bodyPr>
          <a:lstStyle/>
          <a:p>
            <a:pPr algn="r"/>
            <a:r>
              <a:rPr sz="900" b="1">
                <a:solidFill>
                  <a:srgbClr val="4AB8D2"/>
                </a:solidFill>
                <a:latin typeface="JetBrains Mono"/>
              </a:rPr>
              <a:t>JOIN THE CONVERSATION</a:t>
            </a:r>
          </a:p>
        </p:txBody>
      </p:sp>
      <p:sp>
        <p:nvSpPr>
          <p:cNvPr id="10" name="TextBox 9"/>
          <p:cNvSpPr txBox="1"/>
          <p:nvPr/>
        </p:nvSpPr>
        <p:spPr>
          <a:xfrm>
            <a:off x="8119872" y="822960"/>
            <a:ext cx="1645920" cy="822960"/>
          </a:xfrm>
          <a:prstGeom prst="rect">
            <a:avLst/>
          </a:prstGeom>
          <a:noFill/>
        </p:spPr>
        <p:txBody>
          <a:bodyPr wrap="square" lIns="0" rIns="0" tIns="0" bIns="0" anchor="t">
            <a:spAutoFit/>
          </a:bodyPr>
          <a:lstStyle/>
          <a:p>
            <a:pPr algn="r"/>
            <a:r>
              <a:rPr sz="800" b="0">
                <a:solidFill>
                  <a:srgbClr val="8888A0"/>
                </a:solidFill>
                <a:latin typeface="Inter"/>
              </a:rPr>
              <a:t>Scan to open the BSides Aarhus channel — invite link at bsidesaarhus.dk</a:t>
            </a:r>
          </a:p>
        </p:txBody>
      </p:sp>
      <p:sp>
        <p:nvSpPr>
          <p:cNvPr id="11" name="Rounded Rectangle 10"/>
          <p:cNvSpPr/>
          <p:nvPr/>
        </p:nvSpPr>
        <p:spPr>
          <a:xfrm>
            <a:off x="548640" y="2103120"/>
            <a:ext cx="11094415" cy="4407408"/>
          </a:xfrm>
          <a:prstGeom prst="roundRect">
            <a:avLst>
              <a:gd name="adj" fmla="val 2000"/>
            </a:avLst>
          </a:prstGeom>
          <a:solidFill>
            <a:srgbClr val="1A1A25">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148840"/>
            <a:ext cx="4929987" cy="320040"/>
          </a:xfrm>
          <a:prstGeom prst="rect">
            <a:avLst/>
          </a:prstGeom>
          <a:noFill/>
        </p:spPr>
        <p:txBody>
          <a:bodyPr wrap="square" lIns="0" rIns="0" tIns="0" bIns="0" anchor="ctr">
            <a:spAutoFit/>
          </a:bodyPr>
          <a:lstStyle/>
          <a:p>
            <a:pPr algn="ctr"/>
            <a:r>
              <a:rPr sz="1100" b="1">
                <a:solidFill>
                  <a:srgbClr val="4AB8D2"/>
                </a:solidFill>
                <a:latin typeface="JetBrains Mono"/>
              </a:rPr>
              <a:t>TRACK 1  ·  ROOM 1</a:t>
            </a:r>
          </a:p>
        </p:txBody>
      </p:sp>
      <p:sp>
        <p:nvSpPr>
          <p:cNvPr id="13" name="TextBox 12"/>
          <p:cNvSpPr txBox="1"/>
          <p:nvPr/>
        </p:nvSpPr>
        <p:spPr>
          <a:xfrm>
            <a:off x="6713067" y="2148840"/>
            <a:ext cx="4929987" cy="320040"/>
          </a:xfrm>
          <a:prstGeom prst="rect">
            <a:avLst/>
          </a:prstGeom>
          <a:noFill/>
        </p:spPr>
        <p:txBody>
          <a:bodyPr wrap="square" lIns="0" rIns="0" tIns="0" bIns="0" anchor="ctr">
            <a:spAutoFit/>
          </a:bodyPr>
          <a:lstStyle/>
          <a:p>
            <a:pPr algn="ctr"/>
            <a:r>
              <a:rPr sz="1100" b="1">
                <a:solidFill>
                  <a:srgbClr val="4AB8D2"/>
                </a:solidFill>
                <a:latin typeface="JetBrains Mono"/>
              </a:rPr>
              <a:t>TRACK 2  ·  ROOM 2</a:t>
            </a:r>
          </a:p>
        </p:txBody>
      </p:sp>
      <p:sp>
        <p:nvSpPr>
          <p:cNvPr id="14" name="TextBox 13"/>
          <p:cNvSpPr txBox="1"/>
          <p:nvPr/>
        </p:nvSpPr>
        <p:spPr>
          <a:xfrm>
            <a:off x="548640" y="2542032"/>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09:00</a:t>
            </a:r>
          </a:p>
        </p:txBody>
      </p:sp>
      <p:sp>
        <p:nvSpPr>
          <p:cNvPr id="15" name="TextBox 14"/>
          <p:cNvSpPr txBox="1"/>
          <p:nvPr/>
        </p:nvSpPr>
        <p:spPr>
          <a:xfrm>
            <a:off x="1645920" y="2542032"/>
            <a:ext cx="9997135" cy="438912"/>
          </a:xfrm>
          <a:prstGeom prst="rect">
            <a:avLst/>
          </a:prstGeom>
          <a:noFill/>
        </p:spPr>
        <p:txBody>
          <a:bodyPr wrap="square" lIns="0" rIns="0" tIns="0" bIns="0" anchor="ctr">
            <a:spAutoFit/>
          </a:bodyPr>
          <a:lstStyle/>
          <a:p>
            <a:pPr algn="ctr"/>
            <a:r>
              <a:rPr sz="1400" b="0">
                <a:solidFill>
                  <a:srgbClr val="8888A0"/>
                </a:solidFill>
                <a:latin typeface="Inter"/>
              </a:rPr>
              <a:t>Breakfast &amp; networking</a:t>
            </a:r>
          </a:p>
        </p:txBody>
      </p:sp>
      <p:sp>
        <p:nvSpPr>
          <p:cNvPr id="16" name="TextBox 15"/>
          <p:cNvSpPr txBox="1"/>
          <p:nvPr/>
        </p:nvSpPr>
        <p:spPr>
          <a:xfrm>
            <a:off x="548640" y="2980944"/>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10:00</a:t>
            </a:r>
          </a:p>
        </p:txBody>
      </p:sp>
      <p:sp>
        <p:nvSpPr>
          <p:cNvPr id="17" name="TextBox 16"/>
          <p:cNvSpPr txBox="1"/>
          <p:nvPr/>
        </p:nvSpPr>
        <p:spPr>
          <a:xfrm>
            <a:off x="1783080" y="2980944"/>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WebAuthn: How to get rid of passwords.</a:t>
            </a:r>
          </a:p>
          <a:p>
            <a:pPr algn="l"/>
            <a:r>
              <a:rPr sz="900">
                <a:solidFill>
                  <a:srgbClr val="8888A0"/>
                </a:solidFill>
                <a:latin typeface="JetBrains Mono"/>
              </a:rPr>
              <a:t>Joost van Dijk</a:t>
            </a:r>
          </a:p>
        </p:txBody>
      </p:sp>
      <p:sp>
        <p:nvSpPr>
          <p:cNvPr id="18" name="TextBox 17"/>
          <p:cNvSpPr txBox="1"/>
          <p:nvPr/>
        </p:nvSpPr>
        <p:spPr>
          <a:xfrm>
            <a:off x="6850227" y="2980944"/>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Kernel Wars: Anti-Cheat Reversing, BYOVD &amp; Mitigations</a:t>
            </a:r>
          </a:p>
          <a:p>
            <a:pPr algn="l"/>
            <a:r>
              <a:rPr sz="900">
                <a:solidFill>
                  <a:srgbClr val="8888A0"/>
                </a:solidFill>
                <a:latin typeface="JetBrains Mono"/>
              </a:rPr>
              <a:t>Ravshan Rikhsiev</a:t>
            </a:r>
          </a:p>
        </p:txBody>
      </p:sp>
      <p:sp>
        <p:nvSpPr>
          <p:cNvPr id="19" name="TextBox 18"/>
          <p:cNvSpPr txBox="1"/>
          <p:nvPr/>
        </p:nvSpPr>
        <p:spPr>
          <a:xfrm>
            <a:off x="548640" y="3419856"/>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11:00</a:t>
            </a:r>
          </a:p>
        </p:txBody>
      </p:sp>
      <p:sp>
        <p:nvSpPr>
          <p:cNvPr id="20" name="TextBox 19"/>
          <p:cNvSpPr txBox="1"/>
          <p:nvPr/>
        </p:nvSpPr>
        <p:spPr>
          <a:xfrm>
            <a:off x="1783080" y="3419856"/>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Alert Fatigue Therapy: Fixing Broken Detection Rules</a:t>
            </a:r>
          </a:p>
          <a:p>
            <a:pPr algn="l"/>
            <a:r>
              <a:rPr sz="900">
                <a:solidFill>
                  <a:srgbClr val="8888A0"/>
                </a:solidFill>
                <a:latin typeface="JetBrains Mono"/>
              </a:rPr>
              <a:t>Marvin Ngoma</a:t>
            </a:r>
          </a:p>
        </p:txBody>
      </p:sp>
      <p:sp>
        <p:nvSpPr>
          <p:cNvPr id="21" name="TextBox 20"/>
          <p:cNvSpPr txBox="1"/>
          <p:nvPr/>
        </p:nvSpPr>
        <p:spPr>
          <a:xfrm>
            <a:off x="6850227" y="3419856"/>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Remote Cold Execution</a:t>
            </a:r>
          </a:p>
          <a:p>
            <a:pPr algn="l"/>
            <a:r>
              <a:rPr sz="900">
                <a:solidFill>
                  <a:srgbClr val="8888A0"/>
                </a:solidFill>
                <a:latin typeface="JetBrains Mono"/>
              </a:rPr>
              <a:t>Tom Kern</a:t>
            </a:r>
          </a:p>
        </p:txBody>
      </p:sp>
      <p:sp>
        <p:nvSpPr>
          <p:cNvPr id="22" name="TextBox 21"/>
          <p:cNvSpPr txBox="1"/>
          <p:nvPr/>
        </p:nvSpPr>
        <p:spPr>
          <a:xfrm>
            <a:off x="548640" y="3858768"/>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11:45</a:t>
            </a:r>
          </a:p>
        </p:txBody>
      </p:sp>
      <p:sp>
        <p:nvSpPr>
          <p:cNvPr id="23" name="TextBox 22"/>
          <p:cNvSpPr txBox="1"/>
          <p:nvPr/>
        </p:nvSpPr>
        <p:spPr>
          <a:xfrm>
            <a:off x="1645920" y="3858768"/>
            <a:ext cx="9997135" cy="438912"/>
          </a:xfrm>
          <a:prstGeom prst="rect">
            <a:avLst/>
          </a:prstGeom>
          <a:noFill/>
        </p:spPr>
        <p:txBody>
          <a:bodyPr wrap="square" lIns="0" rIns="0" tIns="0" bIns="0" anchor="ctr">
            <a:spAutoFit/>
          </a:bodyPr>
          <a:lstStyle/>
          <a:p>
            <a:pPr algn="ctr"/>
            <a:r>
              <a:rPr sz="1400" b="0">
                <a:solidFill>
                  <a:srgbClr val="8888A0"/>
                </a:solidFill>
                <a:latin typeface="Inter"/>
              </a:rPr>
              <a:t>Lunch</a:t>
            </a:r>
          </a:p>
        </p:txBody>
      </p:sp>
      <p:sp>
        <p:nvSpPr>
          <p:cNvPr id="24" name="TextBox 23"/>
          <p:cNvSpPr txBox="1"/>
          <p:nvPr/>
        </p:nvSpPr>
        <p:spPr>
          <a:xfrm>
            <a:off x="548640" y="4297680"/>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12:45</a:t>
            </a:r>
          </a:p>
        </p:txBody>
      </p:sp>
      <p:sp>
        <p:nvSpPr>
          <p:cNvPr id="25" name="TextBox 24"/>
          <p:cNvSpPr txBox="1"/>
          <p:nvPr/>
        </p:nvSpPr>
        <p:spPr>
          <a:xfrm>
            <a:off x="1783080" y="4297680"/>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We Scanned 10,000 Danish Orgs Without Sending a Single Packet</a:t>
            </a:r>
          </a:p>
          <a:p>
            <a:pPr algn="l"/>
            <a:r>
              <a:rPr sz="900">
                <a:solidFill>
                  <a:srgbClr val="8888A0"/>
                </a:solidFill>
                <a:latin typeface="JetBrains Mono"/>
              </a:rPr>
              <a:t>Morten von Seelen</a:t>
            </a:r>
          </a:p>
        </p:txBody>
      </p:sp>
      <p:sp>
        <p:nvSpPr>
          <p:cNvPr id="26" name="TextBox 25"/>
          <p:cNvSpPr txBox="1"/>
          <p:nvPr/>
        </p:nvSpPr>
        <p:spPr>
          <a:xfrm>
            <a:off x="6850227" y="4297680"/>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Trustless Consensus Manipulation Through Bribing Contracts</a:t>
            </a:r>
          </a:p>
          <a:p>
            <a:pPr algn="l"/>
            <a:r>
              <a:rPr sz="900">
                <a:solidFill>
                  <a:srgbClr val="8888A0"/>
                </a:solidFill>
                <a:latin typeface="JetBrains Mono"/>
              </a:rPr>
              <a:t>Bence Sooki-Toth</a:t>
            </a:r>
          </a:p>
        </p:txBody>
      </p:sp>
      <p:sp>
        <p:nvSpPr>
          <p:cNvPr id="27" name="TextBox 26"/>
          <p:cNvSpPr txBox="1"/>
          <p:nvPr/>
        </p:nvSpPr>
        <p:spPr>
          <a:xfrm>
            <a:off x="548640" y="4736592"/>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13:50</a:t>
            </a:r>
          </a:p>
        </p:txBody>
      </p:sp>
      <p:sp>
        <p:nvSpPr>
          <p:cNvPr id="28" name="TextBox 27"/>
          <p:cNvSpPr txBox="1"/>
          <p:nvPr/>
        </p:nvSpPr>
        <p:spPr>
          <a:xfrm>
            <a:off x="1783080" y="4736592"/>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RTFM — When Documentation Creates Critical Misconfiguration</a:t>
            </a:r>
          </a:p>
          <a:p>
            <a:pPr algn="l"/>
            <a:r>
              <a:rPr sz="900">
                <a:solidFill>
                  <a:srgbClr val="8888A0"/>
                </a:solidFill>
                <a:latin typeface="JetBrains Mono"/>
              </a:rPr>
              <a:t>Martin Sohn Christensen</a:t>
            </a:r>
          </a:p>
        </p:txBody>
      </p:sp>
      <p:sp>
        <p:nvSpPr>
          <p:cNvPr id="29" name="TextBox 28"/>
          <p:cNvSpPr txBox="1"/>
          <p:nvPr/>
        </p:nvSpPr>
        <p:spPr>
          <a:xfrm>
            <a:off x="6850227" y="4736592"/>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Emerging Frontiers: Ransomware Attacks in AI Systems</a:t>
            </a:r>
          </a:p>
          <a:p>
            <a:pPr algn="l"/>
            <a:r>
              <a:rPr sz="900">
                <a:solidFill>
                  <a:srgbClr val="8888A0"/>
                </a:solidFill>
                <a:latin typeface="JetBrains Mono"/>
              </a:rPr>
              <a:t>Behnaz Karimi &amp; Yuvaraj Govindarajulu</a:t>
            </a:r>
          </a:p>
        </p:txBody>
      </p:sp>
      <p:sp>
        <p:nvSpPr>
          <p:cNvPr id="30" name="TextBox 29"/>
          <p:cNvSpPr txBox="1"/>
          <p:nvPr/>
        </p:nvSpPr>
        <p:spPr>
          <a:xfrm>
            <a:off x="548640" y="5175504"/>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14:50</a:t>
            </a:r>
          </a:p>
        </p:txBody>
      </p:sp>
      <p:sp>
        <p:nvSpPr>
          <p:cNvPr id="31" name="TextBox 30"/>
          <p:cNvSpPr txBox="1"/>
          <p:nvPr/>
        </p:nvSpPr>
        <p:spPr>
          <a:xfrm>
            <a:off x="1783080" y="5175504"/>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Build your own IDS</a:t>
            </a:r>
          </a:p>
          <a:p>
            <a:pPr algn="l"/>
            <a:r>
              <a:rPr sz="900">
                <a:solidFill>
                  <a:srgbClr val="8888A0"/>
                </a:solidFill>
                <a:latin typeface="JetBrains Mono"/>
              </a:rPr>
              <a:t>Eleni Ioakeim</a:t>
            </a:r>
          </a:p>
        </p:txBody>
      </p:sp>
      <p:sp>
        <p:nvSpPr>
          <p:cNvPr id="32" name="TextBox 31"/>
          <p:cNvSpPr txBox="1"/>
          <p:nvPr/>
        </p:nvSpPr>
        <p:spPr>
          <a:xfrm>
            <a:off x="6850227" y="5175504"/>
            <a:ext cx="4655667" cy="438912"/>
          </a:xfrm>
          <a:prstGeom prst="rect">
            <a:avLst/>
          </a:prstGeom>
          <a:noFill/>
        </p:spPr>
        <p:txBody>
          <a:bodyPr wrap="square" lIns="0" rIns="0" tIns="25400" bIns="25400" anchor="ctr">
            <a:spAutoFit/>
          </a:bodyPr>
          <a:lstStyle/>
          <a:p>
            <a:pPr algn="l"/>
            <a:r>
              <a:rPr sz="1100" b="1">
                <a:solidFill>
                  <a:srgbClr val="E8E8ED"/>
                </a:solidFill>
                <a:latin typeface="Inter"/>
              </a:rPr>
              <a:t>Nebula — 5 years, still kicking *aaS</a:t>
            </a:r>
          </a:p>
          <a:p>
            <a:pPr algn="l"/>
            <a:r>
              <a:rPr sz="900">
                <a:solidFill>
                  <a:srgbClr val="8888A0"/>
                </a:solidFill>
                <a:latin typeface="JetBrains Mono"/>
              </a:rPr>
              <a:t>Bleon Proko</a:t>
            </a:r>
          </a:p>
        </p:txBody>
      </p:sp>
      <p:sp>
        <p:nvSpPr>
          <p:cNvPr id="33" name="TextBox 32"/>
          <p:cNvSpPr txBox="1"/>
          <p:nvPr/>
        </p:nvSpPr>
        <p:spPr>
          <a:xfrm>
            <a:off x="548640" y="5614416"/>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15:30</a:t>
            </a:r>
          </a:p>
        </p:txBody>
      </p:sp>
      <p:sp>
        <p:nvSpPr>
          <p:cNvPr id="34" name="TextBox 33"/>
          <p:cNvSpPr txBox="1"/>
          <p:nvPr/>
        </p:nvSpPr>
        <p:spPr>
          <a:xfrm>
            <a:off x="1645920" y="5614416"/>
            <a:ext cx="9997135" cy="438912"/>
          </a:xfrm>
          <a:prstGeom prst="rect">
            <a:avLst/>
          </a:prstGeom>
          <a:noFill/>
        </p:spPr>
        <p:txBody>
          <a:bodyPr wrap="square" lIns="0" rIns="0" tIns="0" bIns="0" anchor="ctr">
            <a:spAutoFit/>
          </a:bodyPr>
          <a:lstStyle/>
          <a:p>
            <a:pPr algn="ctr"/>
            <a:r>
              <a:rPr sz="1400" b="0">
                <a:solidFill>
                  <a:srgbClr val="8888A0"/>
                </a:solidFill>
                <a:latin typeface="Inter"/>
              </a:rPr>
              <a:t>Networking session</a:t>
            </a:r>
          </a:p>
        </p:txBody>
      </p:sp>
      <p:sp>
        <p:nvSpPr>
          <p:cNvPr id="35" name="TextBox 34"/>
          <p:cNvSpPr txBox="1"/>
          <p:nvPr/>
        </p:nvSpPr>
        <p:spPr>
          <a:xfrm>
            <a:off x="548640" y="6053328"/>
            <a:ext cx="960120" cy="438912"/>
          </a:xfrm>
          <a:prstGeom prst="rect">
            <a:avLst/>
          </a:prstGeom>
          <a:noFill/>
        </p:spPr>
        <p:txBody>
          <a:bodyPr wrap="square" lIns="0" rIns="0" tIns="0" bIns="0" anchor="ctr">
            <a:spAutoFit/>
          </a:bodyPr>
          <a:lstStyle/>
          <a:p>
            <a:pPr algn="ctr"/>
            <a:r>
              <a:rPr sz="1400" b="1">
                <a:solidFill>
                  <a:srgbClr val="4AB8D2"/>
                </a:solidFill>
                <a:latin typeface="JetBrains Mono"/>
              </a:rPr>
              <a:t>16:30</a:t>
            </a:r>
          </a:p>
        </p:txBody>
      </p:sp>
      <p:sp>
        <p:nvSpPr>
          <p:cNvPr id="36" name="TextBox 35"/>
          <p:cNvSpPr txBox="1"/>
          <p:nvPr/>
        </p:nvSpPr>
        <p:spPr>
          <a:xfrm>
            <a:off x="1645920" y="6053328"/>
            <a:ext cx="9997135" cy="438912"/>
          </a:xfrm>
          <a:prstGeom prst="rect">
            <a:avLst/>
          </a:prstGeom>
          <a:noFill/>
        </p:spPr>
        <p:txBody>
          <a:bodyPr wrap="square" lIns="0" rIns="0" tIns="0" bIns="0" anchor="ctr">
            <a:spAutoFit/>
          </a:bodyPr>
          <a:lstStyle/>
          <a:p>
            <a:pPr algn="ctr"/>
            <a:r>
              <a:rPr sz="1400" b="0">
                <a:solidFill>
                  <a:srgbClr val="8888A0"/>
                </a:solidFill>
                <a:latin typeface="Inter"/>
              </a:rPr>
              <a:t>Continue at Fredagscaféen</a:t>
            </a:r>
          </a:p>
        </p:txBody>
      </p:sp>
      <p:sp>
        <p:nvSpPr>
          <p:cNvPr id="37" name="TextBox 36"/>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38" name="TextBox 37"/>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_elev.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48640" y="2011680"/>
            <a:ext cx="109728" cy="27432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058400" cy="548640"/>
          </a:xfrm>
          <a:prstGeom prst="rect">
            <a:avLst/>
          </a:prstGeom>
          <a:noFill/>
        </p:spPr>
        <p:txBody>
          <a:bodyPr wrap="square" lIns="0" rIns="0" tIns="0" bIns="0" anchor="t">
            <a:spAutoFit/>
          </a:bodyPr>
          <a:lstStyle/>
          <a:p>
            <a:pPr algn="l"/>
            <a:r>
              <a:rPr sz="1600" b="1">
                <a:solidFill>
                  <a:srgbClr val="4AB8D2"/>
                </a:solidFill>
                <a:latin typeface="JetBrains Mono"/>
              </a:rPr>
              <a:t>SECTION</a:t>
            </a:r>
          </a:p>
        </p:txBody>
      </p:sp>
      <p:sp>
        <p:nvSpPr>
          <p:cNvPr id="5" name="TextBox 4"/>
          <p:cNvSpPr txBox="1"/>
          <p:nvPr/>
        </p:nvSpPr>
        <p:spPr>
          <a:xfrm>
            <a:off x="914400" y="2468880"/>
            <a:ext cx="10515600" cy="1828800"/>
          </a:xfrm>
          <a:prstGeom prst="rect">
            <a:avLst/>
          </a:prstGeom>
          <a:noFill/>
        </p:spPr>
        <p:txBody>
          <a:bodyPr wrap="square" lIns="0" rIns="0" tIns="0" bIns="0" anchor="t">
            <a:spAutoFit/>
          </a:bodyPr>
          <a:lstStyle/>
          <a:p>
            <a:pPr algn="l"/>
            <a:r>
              <a:rPr sz="6000" b="1">
                <a:solidFill>
                  <a:srgbClr val="E8E8ED"/>
                </a:solidFill>
                <a:latin typeface="Inter"/>
              </a:rPr>
              <a:t>Section title goes here</a:t>
            </a:r>
          </a:p>
        </p:txBody>
      </p:sp>
      <p:sp>
        <p:nvSpPr>
          <p:cNvPr id="6" name="TextBox 5"/>
          <p:cNvSpPr txBox="1"/>
          <p:nvPr/>
        </p:nvSpPr>
        <p:spPr>
          <a:xfrm>
            <a:off x="914400" y="4206240"/>
            <a:ext cx="10515600" cy="548640"/>
          </a:xfrm>
          <a:prstGeom prst="rect">
            <a:avLst/>
          </a:prstGeom>
          <a:noFill/>
        </p:spPr>
        <p:txBody>
          <a:bodyPr wrap="square" lIns="0" rIns="0" tIns="0" bIns="0" anchor="t">
            <a:spAutoFit/>
          </a:bodyPr>
          <a:lstStyle/>
          <a:p>
            <a:pPr algn="l"/>
            <a:r>
              <a:rPr sz="2200" b="0">
                <a:solidFill>
                  <a:srgbClr val="8888A0"/>
                </a:solidFill>
                <a:latin typeface="Inter"/>
              </a:rPr>
              <a:t>Optional one-line description for this section.</a:t>
            </a:r>
          </a:p>
        </p:txBody>
      </p:sp>
      <p:sp>
        <p:nvSpPr>
          <p:cNvPr id="7" name="TextBox 6"/>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ectangle 3"/>
          <p:cNvSpPr/>
          <p:nvPr/>
        </p:nvSpPr>
        <p:spPr>
          <a:xfrm>
            <a:off x="548640" y="118872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10972800" cy="731520"/>
          </a:xfrm>
          <a:prstGeom prst="rect">
            <a:avLst/>
          </a:prstGeom>
          <a:noFill/>
        </p:spPr>
        <p:txBody>
          <a:bodyPr wrap="square" lIns="0" rIns="0" tIns="0" bIns="0" anchor="t">
            <a:spAutoFit/>
          </a:bodyPr>
          <a:lstStyle/>
          <a:p>
            <a:pPr algn="l"/>
            <a:r>
              <a:rPr sz="3600" b="1">
                <a:solidFill>
                  <a:srgbClr val="E8E8ED"/>
                </a:solidFill>
                <a:latin typeface="Inter"/>
              </a:rPr>
              <a:t>Slide title</a:t>
            </a:r>
          </a:p>
        </p:txBody>
      </p:sp>
      <p:sp>
        <p:nvSpPr>
          <p:cNvPr id="6" name="TextBox 5"/>
          <p:cNvSpPr txBox="1"/>
          <p:nvPr/>
        </p:nvSpPr>
        <p:spPr>
          <a:xfrm>
            <a:off x="548640" y="2286000"/>
            <a:ext cx="11064240" cy="3840480"/>
          </a:xfrm>
          <a:prstGeom prst="rect">
            <a:avLst/>
          </a:prstGeom>
          <a:noFill/>
        </p:spPr>
        <p:txBody>
          <a:bodyPr wrap="square">
            <a:spAutoFit/>
          </a:bodyPr>
          <a:lstStyle/>
          <a:p>
            <a:pPr algn="l">
              <a:spcAft>
                <a:spcPts val="1000"/>
              </a:spcAft>
            </a:pPr>
            <a:r>
              <a:rPr sz="2000">
                <a:solidFill>
                  <a:srgbClr val="4AB8D2"/>
                </a:solidFill>
                <a:latin typeface="JetBrains Mono"/>
              </a:rPr>
              <a:t>▍ </a:t>
            </a:r>
            <a:r>
              <a:rPr sz="2200">
                <a:solidFill>
                  <a:srgbClr val="E8E8ED"/>
                </a:solidFill>
                <a:latin typeface="Inter"/>
              </a:rPr>
              <a:t>Primary point — short, declarative, one idea per line</a:t>
            </a:r>
          </a:p>
          <a:p>
            <a:pPr algn="l">
              <a:spcAft>
                <a:spcPts val="1000"/>
              </a:spcAft>
            </a:pPr>
            <a:r>
              <a:rPr sz="2000">
                <a:solidFill>
                  <a:srgbClr val="4AB8D2"/>
                </a:solidFill>
                <a:latin typeface="JetBrains Mono"/>
              </a:rPr>
              <a:t>▍ </a:t>
            </a:r>
            <a:r>
              <a:rPr sz="2200">
                <a:solidFill>
                  <a:srgbClr val="E8E8ED"/>
                </a:solidFill>
                <a:latin typeface="Inter"/>
              </a:rPr>
              <a:t>Supporting detail with concrete example</a:t>
            </a:r>
          </a:p>
          <a:p>
            <a:pPr algn="l">
              <a:spcAft>
                <a:spcPts val="1000"/>
              </a:spcAft>
            </a:pPr>
            <a:r>
              <a:rPr sz="2000">
                <a:solidFill>
                  <a:srgbClr val="4AB8D2"/>
                </a:solidFill>
                <a:latin typeface="JetBrains Mono"/>
              </a:rPr>
              <a:t>▍ </a:t>
            </a:r>
            <a:r>
              <a:rPr sz="2200">
                <a:solidFill>
                  <a:srgbClr val="E8E8ED"/>
                </a:solidFill>
                <a:latin typeface="Inter"/>
              </a:rPr>
              <a:t>Evidence, data, or reference</a:t>
            </a:r>
          </a:p>
          <a:p>
            <a:pPr algn="l">
              <a:spcAft>
                <a:spcPts val="1000"/>
              </a:spcAft>
            </a:pPr>
            <a:r>
              <a:rPr sz="2000">
                <a:solidFill>
                  <a:srgbClr val="4AB8D2"/>
                </a:solidFill>
                <a:latin typeface="JetBrains Mono"/>
              </a:rPr>
              <a:t>▍ </a:t>
            </a:r>
            <a:r>
              <a:rPr sz="2200">
                <a:solidFill>
                  <a:srgbClr val="E8E8ED"/>
                </a:solidFill>
                <a:latin typeface="Inter"/>
              </a:rPr>
              <a:t>Takeaway or call to action</a:t>
            </a:r>
          </a:p>
        </p:txBody>
      </p:sp>
      <p:sp>
        <p:nvSpPr>
          <p:cNvPr id="7" name="TextBox 6"/>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8" name="TextBox 7"/>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Content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383280"/>
            <a:ext cx="3840480" cy="548640"/>
          </a:xfrm>
          <a:prstGeom prst="rect">
            <a:avLst/>
          </a:prstGeom>
          <a:noFill/>
        </p:spPr>
        <p:txBody>
          <a:bodyPr wrap="square" lIns="0" rIns="0" tIns="0" bIns="0" anchor="t">
            <a:spAutoFit/>
          </a:bodyPr>
          <a:lstStyle/>
          <a:p>
            <a:pPr algn="ctr"/>
            <a:r>
              <a:rPr sz="1600" b="0">
                <a:solidFill>
                  <a:srgbClr val="8888A0"/>
                </a:solidFill>
                <a:latin typeface="JetBrains Mono"/>
              </a:rPr>
              <a:t>[ Photo ]</a:t>
            </a:r>
          </a:p>
        </p:txBody>
      </p:sp>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Speaker Name</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Role  ·  Company</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Short bio. Two or three sentences about background, specialization, and what the audience will take away from the talk. Keep it conversational and specific.</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@handle  ·  speaker.example.com</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Eleni Ioakeim</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Truesec, OT Threat Analyst</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Eleni is an OT Threat Analyst at Truesec SOC in Copenhagen, with expertise in OT network security monitoring. Her work contributes to improving SOC processes and detection capabilities for ICS environments.</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Joost van Dijk</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Developer Advocate at Yubico</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Joost is a Developer Advocate at Yubico and a security and privacy professional with deep expertise in federated single sign-on, multi-factor authentication, FIDO, passkeys, PKI, TLS, and hardware security.</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linkedin.com/in/joostd</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Martin Sohn Christensen</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Security Researcher @ SpecterOps</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Martin is a Security Researcher at SpecterOps in Copenhagen, specializing in Microsoft technologies with expertise in Active Directory, identity attack paths, and secure system configuration. His perspective on security risks and challenges is shaped by a background spanning system administration, an information security degree, and information security consultancy. He is a frequent contributor to the community through online engagement and talks.</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linkedin.com/in/martinsohn  ·  martinsohn.dk</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Marvin Ngoma</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Elastic, Principal Security Architect, Security Evangelist</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Marvin is a Principal Security Architect and Security Evangelist at Elastic, and a seasoned consultant with a strong passion for helping organizations succeed in their cybersecurity programs. He has led many projects in both the private and public sectors — architecting and building Security Operations and Intelligence capabilities, and unifying tools, processes, and people. Before Elastic, he was a security consultant at IBM and the primary SME for QRadar in the Nordics.</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linkedin.com/in/tyolani  ·  www.elastic.co/blog/author/marvin-ngoma</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Morten von Seelen</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TRUESEC, Vice President</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Morten is Vice President at Truesec in Aarhus and builds cool companies. His work focuses on turning outside-in signals about real organizations into actionable risk insight at national scale.</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linkedin.com/in/vonseelen  ·  tinyurl.com/MvSeeBlog</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Behnaz Karimi</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Co-Lead / Leader AI Red Teaming OWASP AI Exchange and Founder RAID-AI Framework</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Behnaz is an AI Security Researcher and the Founder/Creator of the RAID-AI Framework. She is also Co-Author, Co-Lead, and Leader of AI Red Teaming at OWASP AI Exchange, where she actively contributes to advancing security practices for AI systems.</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linkedin.com/in/behnaz-karimi-behi  ·  substack.com/@behnazkarimi</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Bence Soóki-Tóth</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Aarhus University, Master's Student</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Bence is a Master's student at Aarhus University and a research assistant at Eötvös Loránd University, working at the intersection of cryptography, game theory, and consensus protocols.</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linkedin.com/in/stbence  ·  0xsooki.github.io</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Bleon Proko</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Cloud Security Researcher</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Bleon is a Senior Security Researcher at Exaforce, passionate about Infrastructure Penetration Testing and Security across Active Directory, Cloud (AWS, Azure, GCP, Digital Ocean) and hybrid infrastructures, as well as defense, detection, and threat hunting. He has presented Cloud Penetration Testing and Security topics at conferences including Black Hat USA, Europe and Sector, DEF CON, SANS Pentest Hackfest Hollywood and Amsterdam, and several BSides events in the US and Europe.</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linkedin.com/in/bleon-p-9b2734143  ·  blog.pepperclipp.com</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Kasper Hald</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Freelance Consultant at ApplSec Consult</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With an educational background in quantum theory and 20+ years within application security, this topic is where Kasper's past and present meet.</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linkedin.com/in/kasper-hald-6622623</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Tom Kern</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SecOps Automation Lead @ Conscia MDR</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Tom is a founding member of Conscia's Managed Detection and Response service, now protecting over 250,000 endpoints across Europe. As SecOps Automation Lead, his contributions include technical architecture, detection engineering, and automating security operations.</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linkedin.com/in/kerntom  ·  truly-smart.eu</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48640" y="457200"/>
            <a:ext cx="617838" cy="457200"/>
          </a:xfrm>
          <a:prstGeom prst="rect">
            <a:avLst/>
          </a:prstGeom>
        </p:spPr>
      </p:pic>
      <p:sp>
        <p:nvSpPr>
          <p:cNvPr id="4" name="Rounded Rectangle 3"/>
          <p:cNvSpPr/>
          <p:nvPr/>
        </p:nvSpPr>
        <p:spPr>
          <a:xfrm>
            <a:off x="548640" y="1463040"/>
            <a:ext cx="3840480" cy="4389120"/>
          </a:xfrm>
          <a:prstGeom prst="roundRect">
            <a:avLst>
              <a:gd name="adj" fmla="val 4000"/>
            </a:avLst>
          </a:prstGeom>
          <a:solidFill>
            <a:srgbClr val="1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4"/>
          <a:stretch>
            <a:fillRect/>
          </a:stretch>
        </p:blipFill>
        <p:spPr>
          <a:xfrm>
            <a:off x="914400" y="2103120"/>
            <a:ext cx="3108960" cy="3108960"/>
          </a:xfrm>
          <a:prstGeom prst="rect">
            <a:avLst/>
          </a:prstGeom>
        </p:spPr>
      </p:pic>
      <p:sp>
        <p:nvSpPr>
          <p:cNvPr id="6" name="Rectangle 5"/>
          <p:cNvSpPr/>
          <p:nvPr/>
        </p:nvSpPr>
        <p:spPr>
          <a:xfrm>
            <a:off x="4754880" y="1371600"/>
            <a:ext cx="640080" cy="38100"/>
          </a:xfrm>
          <a:prstGeom prst="rect">
            <a:avLst/>
          </a:prstGeom>
          <a:solidFill>
            <a:srgbClr val="4AB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6858000" cy="365760"/>
          </a:xfrm>
          <a:prstGeom prst="rect">
            <a:avLst/>
          </a:prstGeom>
          <a:noFill/>
        </p:spPr>
        <p:txBody>
          <a:bodyPr wrap="square" lIns="0" rIns="0" tIns="0" bIns="0" anchor="t">
            <a:spAutoFit/>
          </a:bodyPr>
          <a:lstStyle/>
          <a:p>
            <a:pPr algn="l"/>
            <a:r>
              <a:rPr sz="1400" b="1">
                <a:solidFill>
                  <a:srgbClr val="4AB8D2"/>
                </a:solidFill>
                <a:latin typeface="JetBrains Mono"/>
              </a:rPr>
              <a:t>SPEAKER</a:t>
            </a:r>
          </a:p>
        </p:txBody>
      </p:sp>
      <p:sp>
        <p:nvSpPr>
          <p:cNvPr id="8" name="TextBox 7"/>
          <p:cNvSpPr txBox="1"/>
          <p:nvPr/>
        </p:nvSpPr>
        <p:spPr>
          <a:xfrm>
            <a:off x="4754880" y="1920240"/>
            <a:ext cx="6858000" cy="822960"/>
          </a:xfrm>
          <a:prstGeom prst="rect">
            <a:avLst/>
          </a:prstGeom>
          <a:noFill/>
        </p:spPr>
        <p:txBody>
          <a:bodyPr wrap="square" lIns="0" rIns="0" tIns="0" bIns="0" anchor="t">
            <a:spAutoFit/>
          </a:bodyPr>
          <a:lstStyle/>
          <a:p>
            <a:pPr algn="l"/>
            <a:r>
              <a:rPr sz="4000" b="1">
                <a:solidFill>
                  <a:srgbClr val="E8E8ED"/>
                </a:solidFill>
                <a:latin typeface="Inter"/>
              </a:rPr>
              <a:t>Yuvaraj Govindarajulu</a:t>
            </a:r>
          </a:p>
        </p:txBody>
      </p:sp>
      <p:sp>
        <p:nvSpPr>
          <p:cNvPr id="9" name="TextBox 8"/>
          <p:cNvSpPr txBox="1"/>
          <p:nvPr/>
        </p:nvSpPr>
        <p:spPr>
          <a:xfrm>
            <a:off x="4754880" y="2788920"/>
            <a:ext cx="6858000" cy="457200"/>
          </a:xfrm>
          <a:prstGeom prst="rect">
            <a:avLst/>
          </a:prstGeom>
          <a:noFill/>
        </p:spPr>
        <p:txBody>
          <a:bodyPr wrap="square" lIns="0" rIns="0" tIns="0" bIns="0" anchor="t">
            <a:spAutoFit/>
          </a:bodyPr>
          <a:lstStyle/>
          <a:p>
            <a:pPr algn="l"/>
            <a:r>
              <a:rPr sz="2000" b="0">
                <a:solidFill>
                  <a:srgbClr val="6DD0E7"/>
                </a:solidFill>
                <a:latin typeface="Inter"/>
              </a:rPr>
              <a:t>AVP - Product Engineering &amp; Head of Research at Protectt.ai</a:t>
            </a:r>
          </a:p>
        </p:txBody>
      </p:sp>
      <p:sp>
        <p:nvSpPr>
          <p:cNvPr id="10" name="TextBox 9"/>
          <p:cNvSpPr txBox="1"/>
          <p:nvPr/>
        </p:nvSpPr>
        <p:spPr>
          <a:xfrm>
            <a:off x="4754880" y="3474720"/>
            <a:ext cx="6858000" cy="2103120"/>
          </a:xfrm>
          <a:prstGeom prst="rect">
            <a:avLst/>
          </a:prstGeom>
          <a:noFill/>
        </p:spPr>
        <p:txBody>
          <a:bodyPr wrap="square" lIns="0" rIns="0" tIns="0" bIns="0" anchor="t">
            <a:spAutoFit/>
          </a:bodyPr>
          <a:lstStyle/>
          <a:p>
            <a:pPr algn="l"/>
            <a:r>
              <a:rPr sz="1600" b="0">
                <a:solidFill>
                  <a:srgbClr val="8888A0"/>
                </a:solidFill>
                <a:latin typeface="Inter"/>
              </a:rPr>
              <a:t>Yuvaraj Govindarajulu is a technical leader with over a decade of experience in AI, Cybersecurity and Embedded Systems R&amp;D. He is the AVP - Product Engineering &amp; Head of Research at Protectt.ai. He is the co-lead of the OWASP AI Bill of Materials Project and the Co-Author, Workstream lead (Harmonization) at the OWASP AI Exchange. With over 22+ International patents filed, his key areas of focus include AI Red Teaming, GenAI Guardrails, Ransomware Attacks on AI and AI supply chain Security.</a:t>
            </a:r>
          </a:p>
        </p:txBody>
      </p:sp>
      <p:sp>
        <p:nvSpPr>
          <p:cNvPr id="11" name="TextBox 10"/>
          <p:cNvSpPr txBox="1"/>
          <p:nvPr/>
        </p:nvSpPr>
        <p:spPr>
          <a:xfrm>
            <a:off x="4754880" y="5669280"/>
            <a:ext cx="6858000" cy="365760"/>
          </a:xfrm>
          <a:prstGeom prst="rect">
            <a:avLst/>
          </a:prstGeom>
          <a:noFill/>
        </p:spPr>
        <p:txBody>
          <a:bodyPr wrap="square" lIns="0" rIns="0" tIns="0" bIns="0" anchor="t">
            <a:spAutoFit/>
          </a:bodyPr>
          <a:lstStyle/>
          <a:p>
            <a:pPr algn="l"/>
            <a:r>
              <a:rPr sz="1400" b="0">
                <a:solidFill>
                  <a:srgbClr val="4AB8D2"/>
                </a:solidFill>
                <a:latin typeface="JetBrains Mono"/>
              </a:rPr>
              <a:t>linkedin.com/in/yuvaraj-govindarajulu</a:t>
            </a:r>
          </a:p>
        </p:txBody>
      </p:sp>
      <p:sp>
        <p:nvSpPr>
          <p:cNvPr id="12" name="TextBox 11"/>
          <p:cNvSpPr txBox="1"/>
          <p:nvPr/>
        </p:nvSpPr>
        <p:spPr>
          <a:xfrm>
            <a:off x="548640" y="6446520"/>
            <a:ext cx="7315200" cy="274320"/>
          </a:xfrm>
          <a:prstGeom prst="rect">
            <a:avLst/>
          </a:prstGeom>
          <a:noFill/>
        </p:spPr>
        <p:txBody>
          <a:bodyPr wrap="square" lIns="0" rIns="0" tIns="0" bIns="0" anchor="t">
            <a:spAutoFit/>
          </a:bodyPr>
          <a:lstStyle/>
          <a:p>
            <a:pPr algn="l"/>
            <a:r>
              <a:rPr sz="1000" b="0">
                <a:solidFill>
                  <a:srgbClr val="8888A0"/>
                </a:solidFill>
                <a:latin typeface="JetBrains Mono"/>
              </a:rPr>
              <a:t>BSides Aarhus 2026  ·  June 20  ·  INCUBA Next, Aarhus</a:t>
            </a:r>
          </a:p>
        </p:txBody>
      </p:sp>
      <p:sp>
        <p:nvSpPr>
          <p:cNvPr id="13" name="TextBox 12"/>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8888A0"/>
                </a:solidFill>
                <a:latin typeface="JetBrains Mono"/>
              </a:rPr>
              <a:t>Speaker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