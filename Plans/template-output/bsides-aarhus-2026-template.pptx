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2C0F9697-2D1C-430E-A95C-B01BA30A179D}">
          <p14:sldIdLst>
            <p14:sldId id="256"/>
            <p14:sldId id="257"/>
            <p14:sldId id="258"/>
            <p14:sldId id="259"/>
            <p14:sldId id="260"/>
            <p14:sldId id="261"/>
          </p14:sldIdLst>
        </p14:section>
        <p14:section name="Track 1" id="{39A9BF40-CB57-41E2-A15B-90EFF3F750B7}">
          <p14:sldIdLst>
            <p14:sldId id="262"/>
            <p14:sldId id="263"/>
            <p14:sldId id="264"/>
            <p14:sldId id="265"/>
            <p14:sldId id="266"/>
          </p14:sldIdLst>
        </p14:section>
        <p14:section name="Track 2" id="{E9A2597B-766B-4B9B-8203-459B9980B212}">
          <p14:sldIdLst>
            <p14:sldId id="267"/>
            <p14:sldId id="268"/>
            <p14:sldId id="269"/>
            <p14:sldId id="270"/>
            <p14:sldId id="27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864973" cy="64008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STORE AUD</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LILLE AUD</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 and network</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Emerging Frontiers: Ransomware Attacks in AI Systems</a:t>
            </a:r>
          </a:p>
          <a:p>
            <a:pPr algn="l"/>
            <a:r>
              <a:rPr sz="900">
                <a:solidFill>
                  <a:srgbClr val="8888A0"/>
                </a:solidFill>
                <a:latin typeface="JetBrains Mono"/>
              </a:rPr>
              <a:t>Behnaz Karimi</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Soóki-Tóth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To Be Announced</a:t>
            </a:r>
          </a:p>
          <a:p>
            <a:pPr algn="l"/>
            <a:r>
              <a:rPr sz="900">
                <a:solidFill>
                  <a:srgbClr val="8888A0"/>
                </a:solidFill>
                <a:latin typeface="JetBrains Mono"/>
              </a:rPr>
              <a:t>Mikkel Ole Rømer</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Thank You to Our Sponsors</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BSides Aarhus 2026 is made possible by</a:t>
            </a:r>
          </a:p>
        </p:txBody>
      </p:sp>
      <p:sp>
        <p:nvSpPr>
          <p:cNvPr id="7" name="TextBox 6"/>
          <p:cNvSpPr txBox="1"/>
          <p:nvPr/>
        </p:nvSpPr>
        <p:spPr>
          <a:xfrm>
            <a:off x="548640" y="1874519"/>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PARTNERS</a:t>
            </a:r>
          </a:p>
        </p:txBody>
      </p:sp>
      <p:sp>
        <p:nvSpPr>
          <p:cNvPr id="8" name="Rounded Rectangle 7"/>
          <p:cNvSpPr/>
          <p:nvPr/>
        </p:nvSpPr>
        <p:spPr>
          <a:xfrm>
            <a:off x="2232507" y="2185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305659" y="2258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arhusKommuneErhverv_Logo.png"/>
          <p:cNvPicPr>
            <a:picLocks noChangeAspect="1"/>
          </p:cNvPicPr>
          <p:nvPr/>
        </p:nvPicPr>
        <p:blipFill>
          <a:blip r:embed="rId4"/>
          <a:stretch>
            <a:fillRect/>
          </a:stretch>
        </p:blipFill>
        <p:spPr>
          <a:xfrm>
            <a:off x="3540099" y="2295144"/>
            <a:ext cx="1042415" cy="521207"/>
          </a:xfrm>
          <a:prstGeom prst="rect">
            <a:avLst/>
          </a:prstGeom>
        </p:spPr>
      </p:pic>
      <p:sp>
        <p:nvSpPr>
          <p:cNvPr id="11" name="Rounded Rectangle 10"/>
          <p:cNvSpPr/>
          <p:nvPr/>
        </p:nvSpPr>
        <p:spPr>
          <a:xfrm>
            <a:off x="6301587" y="2185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uesec-Logo-Large-White.png"/>
          <p:cNvPicPr>
            <a:picLocks noChangeAspect="1"/>
          </p:cNvPicPr>
          <p:nvPr/>
        </p:nvPicPr>
        <p:blipFill>
          <a:blip r:embed="rId5"/>
          <a:stretch>
            <a:fillRect/>
          </a:stretch>
        </p:blipFill>
        <p:spPr>
          <a:xfrm>
            <a:off x="6421243" y="2295144"/>
            <a:ext cx="3418287" cy="521207"/>
          </a:xfrm>
          <a:prstGeom prst="rect">
            <a:avLst/>
          </a:prstGeom>
        </p:spPr>
      </p:pic>
      <p:sp>
        <p:nvSpPr>
          <p:cNvPr id="13" name="TextBox 12"/>
          <p:cNvSpPr txBox="1"/>
          <p:nvPr/>
        </p:nvSpPr>
        <p:spPr>
          <a:xfrm>
            <a:off x="548640" y="3017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FRIENDS</a:t>
            </a:r>
          </a:p>
        </p:txBody>
      </p:sp>
      <p:sp>
        <p:nvSpPr>
          <p:cNvPr id="14" name="Rounded Rectangle 13"/>
          <p:cNvSpPr/>
          <p:nvPr/>
        </p:nvSpPr>
        <p:spPr>
          <a:xfrm>
            <a:off x="2232507" y="3328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tech-hub-aarhus.png"/>
          <p:cNvPicPr>
            <a:picLocks noChangeAspect="1"/>
          </p:cNvPicPr>
          <p:nvPr/>
        </p:nvPicPr>
        <p:blipFill>
          <a:blip r:embed="rId6"/>
          <a:stretch>
            <a:fillRect/>
          </a:stretch>
        </p:blipFill>
        <p:spPr>
          <a:xfrm>
            <a:off x="3317316" y="3438144"/>
            <a:ext cx="1487981" cy="521207"/>
          </a:xfrm>
          <a:prstGeom prst="rect">
            <a:avLst/>
          </a:prstGeom>
        </p:spPr>
      </p:pic>
      <p:sp>
        <p:nvSpPr>
          <p:cNvPr id="16" name="Rounded Rectangle 15"/>
          <p:cNvSpPr/>
          <p:nvPr/>
        </p:nvSpPr>
        <p:spPr>
          <a:xfrm>
            <a:off x="6301587" y="3328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4739" y="3401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ticker-mule.png"/>
          <p:cNvPicPr>
            <a:picLocks noChangeAspect="1"/>
          </p:cNvPicPr>
          <p:nvPr/>
        </p:nvPicPr>
        <p:blipFill>
          <a:blip r:embed="rId7"/>
          <a:stretch>
            <a:fillRect/>
          </a:stretch>
        </p:blipFill>
        <p:spPr>
          <a:xfrm>
            <a:off x="7701385" y="3438144"/>
            <a:ext cx="858004" cy="521207"/>
          </a:xfrm>
          <a:prstGeom prst="rect">
            <a:avLst/>
          </a:prstGeom>
        </p:spPr>
      </p:pic>
      <p:sp>
        <p:nvSpPr>
          <p:cNvPr id="19" name="TextBox 18"/>
          <p:cNvSpPr txBox="1"/>
          <p:nvPr/>
        </p:nvSpPr>
        <p:spPr>
          <a:xfrm>
            <a:off x="548640" y="4160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STUDENT FRIENDS</a:t>
            </a:r>
          </a:p>
        </p:txBody>
      </p:sp>
      <p:sp>
        <p:nvSpPr>
          <p:cNvPr id="20" name="Rounded Rectangle 19"/>
          <p:cNvSpPr/>
          <p:nvPr/>
        </p:nvSpPr>
        <p:spPr>
          <a:xfrm>
            <a:off x="4267047" y="4471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anske BankLogo White RGB.png"/>
          <p:cNvPicPr>
            <a:picLocks noChangeAspect="1"/>
          </p:cNvPicPr>
          <p:nvPr/>
        </p:nvPicPr>
        <p:blipFill>
          <a:blip r:embed="rId8"/>
          <a:stretch>
            <a:fillRect/>
          </a:stretch>
        </p:blipFill>
        <p:spPr>
          <a:xfrm>
            <a:off x="4376775" y="4665768"/>
            <a:ext cx="3438144" cy="351958"/>
          </a:xfrm>
          <a:prstGeom prst="rect">
            <a:avLst/>
          </a:prstGeom>
        </p:spPr>
      </p:pic>
      <p:sp>
        <p:nvSpPr>
          <p:cNvPr id="22" name="TextBox 21"/>
          <p:cNvSpPr txBox="1"/>
          <p:nvPr/>
        </p:nvSpPr>
        <p:spPr>
          <a:xfrm>
            <a:off x="548640" y="5303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VENUE SPONSORS</a:t>
            </a:r>
          </a:p>
        </p:txBody>
      </p:sp>
      <p:sp>
        <p:nvSpPr>
          <p:cNvPr id="23" name="Rounded Rectangle 22"/>
          <p:cNvSpPr/>
          <p:nvPr/>
        </p:nvSpPr>
        <p:spPr>
          <a:xfrm>
            <a:off x="2232507" y="5614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305659" y="5687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_sponsor_incuba-logo.png"/>
          <p:cNvPicPr>
            <a:picLocks noChangeAspect="1"/>
          </p:cNvPicPr>
          <p:nvPr/>
        </p:nvPicPr>
        <p:blipFill>
          <a:blip r:embed="rId9"/>
          <a:stretch>
            <a:fillRect/>
          </a:stretch>
        </p:blipFill>
        <p:spPr>
          <a:xfrm>
            <a:off x="3243011" y="5724144"/>
            <a:ext cx="1636593" cy="521207"/>
          </a:xfrm>
          <a:prstGeom prst="rect">
            <a:avLst/>
          </a:prstGeom>
        </p:spPr>
      </p:pic>
      <p:sp>
        <p:nvSpPr>
          <p:cNvPr id="26" name="Rounded Rectangle 25"/>
          <p:cNvSpPr/>
          <p:nvPr/>
        </p:nvSpPr>
        <p:spPr>
          <a:xfrm>
            <a:off x="6301587" y="5614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aulogo_uk_var2_white.png"/>
          <p:cNvPicPr>
            <a:picLocks noChangeAspect="1"/>
          </p:cNvPicPr>
          <p:nvPr/>
        </p:nvPicPr>
        <p:blipFill>
          <a:blip r:embed="rId10"/>
          <a:stretch>
            <a:fillRect/>
          </a:stretch>
        </p:blipFill>
        <p:spPr>
          <a:xfrm>
            <a:off x="6897998" y="5724144"/>
            <a:ext cx="2464778" cy="521207"/>
          </a:xfrm>
          <a:prstGeom prst="rect">
            <a:avLst/>
          </a:prstGeom>
        </p:spPr>
      </p:pic>
      <p:sp>
        <p:nvSpPr>
          <p:cNvPr id="28" name="TextBox 27"/>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29" name="TextBox 28"/>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Sponsors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Behnaz Karimi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Co-Lead / Leader AI Red Teaming OWASP AI Exchange and Founder RAID-AI Framework</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Behnaz is an AI Security Researcher and the Founder/Creator of the RAID-AI Framework. She is also Co-Author, Co-Lead, and Leader of AI Red Teaming at OWASP AI Exchange, where she actively contributes to advancing security practices for AI systems.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linkedin.com/in/behnaz-karimi-behi  ·  substack.com/@behnazkarimi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Principal Security Architect, Security Evangelist, Elastic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Mikkel Ole Rømer</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Head of Offensive Security,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Cyber Security Expert - I am mainly engaged with adversary simulation for breach prevention. This experience includes penetration testing and adversary emulation within highly complex infrastructures of some of the largest national and international companies. Besides offensive cyber engagements I have led and designed thorough security analysis exercises of enterprise applications, including review and guidance within secure development practices.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linkedin.com/in/mikkel-r%C3%B8mer  ·  sessionize.com/mikkel-ole-romer</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Vice President,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Master's Student, Aarhus University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OT Threat Analyst,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linkedin.com/in/eleni-ioakeim-9bb262aa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