
<file path=[Content_Types].xml><?xml version="1.0" encoding="utf-8"?>
<Types xmlns="http://schemas.openxmlformats.org/package/2006/content-types">
  <Default Extension="jpg" ContentType="image/jpeg"/>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502920"/>
            <a:ext cx="864973" cy="640080"/>
          </a:xfrm>
          <a:prstGeom prst="rect">
            <a:avLst/>
          </a:prstGeom>
        </p:spPr>
      </p:pic>
      <p:sp>
        <p:nvSpPr>
          <p:cNvPr id="4" name="TextBox 3"/>
          <p:cNvSpPr txBox="1"/>
          <p:nvPr/>
        </p:nvSpPr>
        <p:spPr>
          <a:xfrm>
            <a:off x="548640" y="2011680"/>
            <a:ext cx="10972800" cy="457200"/>
          </a:xfrm>
          <a:prstGeom prst="rect">
            <a:avLst/>
          </a:prstGeom>
          <a:noFill/>
        </p:spPr>
        <p:txBody>
          <a:bodyPr wrap="square" lIns="0" rIns="0" tIns="0" bIns="0" anchor="t">
            <a:spAutoFit/>
          </a:bodyPr>
          <a:lstStyle/>
          <a:p>
            <a:pPr algn="l"/>
            <a:r>
              <a:rPr sz="1400" b="1">
                <a:solidFill>
                  <a:srgbClr val="4AB8D2"/>
                </a:solidFill>
                <a:latin typeface="JetBrains Mono"/>
              </a:rPr>
              <a:t>SECURITY CONFERENCE  ·  AARHUS</a:t>
            </a:r>
          </a:p>
        </p:txBody>
      </p:sp>
      <p:sp>
        <p:nvSpPr>
          <p:cNvPr id="5" name="TextBox 4"/>
          <p:cNvSpPr txBox="1"/>
          <p:nvPr/>
        </p:nvSpPr>
        <p:spPr>
          <a:xfrm>
            <a:off x="548640" y="2468880"/>
            <a:ext cx="10972800" cy="1463040"/>
          </a:xfrm>
          <a:prstGeom prst="rect">
            <a:avLst/>
          </a:prstGeom>
          <a:noFill/>
        </p:spPr>
        <p:txBody>
          <a:bodyPr wrap="square" lIns="0" rIns="0" tIns="0" bIns="0" anchor="t">
            <a:spAutoFit/>
          </a:bodyPr>
          <a:lstStyle/>
          <a:p>
            <a:pPr algn="l"/>
            <a:r>
              <a:rPr sz="7200" b="1">
                <a:solidFill>
                  <a:srgbClr val="E8E8ED"/>
                </a:solidFill>
                <a:latin typeface="Inter"/>
              </a:rPr>
              <a:t>BSides Aarhus 2026</a:t>
            </a:r>
          </a:p>
        </p:txBody>
      </p:sp>
      <p:sp>
        <p:nvSpPr>
          <p:cNvPr id="6" name="TextBox 5"/>
          <p:cNvSpPr txBox="1"/>
          <p:nvPr/>
        </p:nvSpPr>
        <p:spPr>
          <a:xfrm>
            <a:off x="548640" y="4206240"/>
            <a:ext cx="10972800" cy="548640"/>
          </a:xfrm>
          <a:prstGeom prst="rect">
            <a:avLst/>
          </a:prstGeom>
          <a:noFill/>
        </p:spPr>
        <p:txBody>
          <a:bodyPr wrap="square" lIns="0" rIns="0" tIns="0" bIns="0" anchor="t">
            <a:spAutoFit/>
          </a:bodyPr>
          <a:lstStyle/>
          <a:p>
            <a:pPr algn="l"/>
            <a:r>
              <a:rPr sz="3200" b="0">
                <a:solidFill>
                  <a:srgbClr val="6DD0E7"/>
                </a:solidFill>
                <a:latin typeface="Inter"/>
              </a:rPr>
              <a:t>Talk title goes here</a:t>
            </a:r>
          </a:p>
        </p:txBody>
      </p:sp>
      <p:sp>
        <p:nvSpPr>
          <p:cNvPr id="7" name="TextBox 6"/>
          <p:cNvSpPr txBox="1"/>
          <p:nvPr/>
        </p:nvSpPr>
        <p:spPr>
          <a:xfrm>
            <a:off x="548640" y="4937760"/>
            <a:ext cx="10972800" cy="411480"/>
          </a:xfrm>
          <a:prstGeom prst="rect">
            <a:avLst/>
          </a:prstGeom>
          <a:noFill/>
        </p:spPr>
        <p:txBody>
          <a:bodyPr wrap="square" lIns="0" rIns="0" tIns="0" bIns="0" anchor="t">
            <a:spAutoFit/>
          </a:bodyPr>
          <a:lstStyle/>
          <a:p>
            <a:pPr algn="l"/>
            <a:r>
              <a:rPr sz="2000" b="0">
                <a:solidFill>
                  <a:srgbClr val="8888A0"/>
                </a:solidFill>
                <a:latin typeface="Inter"/>
              </a:rPr>
              <a:t>Speaker Name  ·  Affiliation</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10972800" cy="36576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617838" cy="457200"/>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1  ·  ROOM 1</a:t>
            </a:r>
          </a:p>
        </p:txBody>
      </p:sp>
      <p:sp>
        <p:nvSpPr>
          <p:cNvPr id="9" name="TextBox 8"/>
          <p:cNvSpPr txBox="1"/>
          <p:nvPr/>
        </p:nvSpPr>
        <p:spPr>
          <a:xfrm>
            <a:off x="6713067"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2  ·  ROOM 2</a:t>
            </a:r>
          </a:p>
        </p:txBody>
      </p:sp>
      <p:sp>
        <p:nvSpPr>
          <p:cNvPr id="10" name="TextBox 9"/>
          <p:cNvSpPr txBox="1"/>
          <p:nvPr/>
        </p:nvSpPr>
        <p:spPr>
          <a:xfrm>
            <a:off x="548640" y="254203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09:00</a:t>
            </a:r>
          </a:p>
        </p:txBody>
      </p:sp>
      <p:sp>
        <p:nvSpPr>
          <p:cNvPr id="11" name="TextBox 10"/>
          <p:cNvSpPr txBox="1"/>
          <p:nvPr/>
        </p:nvSpPr>
        <p:spPr>
          <a:xfrm>
            <a:off x="1645920" y="2542032"/>
            <a:ext cx="9997135" cy="438912"/>
          </a:xfrm>
          <a:prstGeom prst="rect">
            <a:avLst/>
          </a:prstGeom>
          <a:noFill/>
        </p:spPr>
        <p:txBody>
          <a:bodyPr wrap="square" lIns="0" rIns="0" tIns="0" bIns="0" anchor="ctr">
            <a:spAutoFit/>
          </a:bodyPr>
          <a:lstStyle/>
          <a:p>
            <a:pPr algn="ctr"/>
            <a:r>
              <a:rPr sz="1400" b="0">
                <a:solidFill>
                  <a:srgbClr val="8888A0"/>
                </a:solidFill>
                <a:latin typeface="Inter"/>
              </a:rPr>
              <a:t>Breakfast &amp; networking</a:t>
            </a:r>
          </a:p>
        </p:txBody>
      </p:sp>
      <p:sp>
        <p:nvSpPr>
          <p:cNvPr id="12" name="TextBox 11"/>
          <p:cNvSpPr txBox="1"/>
          <p:nvPr/>
        </p:nvSpPr>
        <p:spPr>
          <a:xfrm>
            <a:off x="548640" y="298094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10:00</a:t>
            </a:r>
          </a:p>
        </p:txBody>
      </p:sp>
      <p:sp>
        <p:nvSpPr>
          <p:cNvPr id="13" name="TextBox 12"/>
          <p:cNvSpPr txBox="1"/>
          <p:nvPr/>
        </p:nvSpPr>
        <p:spPr>
          <a:xfrm>
            <a:off x="1783080"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4" name="TextBox 13"/>
          <p:cNvSpPr txBox="1"/>
          <p:nvPr/>
        </p:nvSpPr>
        <p:spPr>
          <a:xfrm>
            <a:off x="6850227"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Kernel Wars: Anti-Cheat Reversing, BYOVD &amp; Mitigations</a:t>
            </a:r>
          </a:p>
          <a:p>
            <a:pPr algn="l"/>
            <a:r>
              <a:rPr sz="900">
                <a:solidFill>
                  <a:srgbClr val="8888A0"/>
                </a:solidFill>
                <a:latin typeface="JetBrains Mono"/>
              </a:rPr>
              <a:t>Ravshan Rikhsiev</a:t>
            </a:r>
          </a:p>
        </p:txBody>
      </p:sp>
      <p:sp>
        <p:nvSpPr>
          <p:cNvPr id="15" name="TextBox 14"/>
          <p:cNvSpPr txBox="1"/>
          <p:nvPr/>
        </p:nvSpPr>
        <p:spPr>
          <a:xfrm>
            <a:off x="548640" y="341985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11:00</a:t>
            </a:r>
          </a:p>
        </p:txBody>
      </p:sp>
      <p:sp>
        <p:nvSpPr>
          <p:cNvPr id="16" name="TextBox 15"/>
          <p:cNvSpPr txBox="1"/>
          <p:nvPr/>
        </p:nvSpPr>
        <p:spPr>
          <a:xfrm>
            <a:off x="1783080"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17" name="TextBox 16"/>
          <p:cNvSpPr txBox="1"/>
          <p:nvPr/>
        </p:nvSpPr>
        <p:spPr>
          <a:xfrm>
            <a:off x="6850227"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18" name="TextBox 17"/>
          <p:cNvSpPr txBox="1"/>
          <p:nvPr/>
        </p:nvSpPr>
        <p:spPr>
          <a:xfrm>
            <a:off x="548640" y="385876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11:45</a:t>
            </a:r>
          </a:p>
        </p:txBody>
      </p:sp>
      <p:sp>
        <p:nvSpPr>
          <p:cNvPr id="19" name="TextBox 18"/>
          <p:cNvSpPr txBox="1"/>
          <p:nvPr/>
        </p:nvSpPr>
        <p:spPr>
          <a:xfrm>
            <a:off x="1645920" y="3858768"/>
            <a:ext cx="9997135" cy="438912"/>
          </a:xfrm>
          <a:prstGeom prst="rect">
            <a:avLst/>
          </a:prstGeom>
          <a:noFill/>
        </p:spPr>
        <p:txBody>
          <a:bodyPr wrap="square" lIns="0" rIns="0" tIns="0" bIns="0" anchor="ctr">
            <a:spAutoFit/>
          </a:bodyPr>
          <a:lstStyle/>
          <a:p>
            <a:pPr algn="ctr"/>
            <a:r>
              <a:rPr sz="1400" b="0">
                <a:solidFill>
                  <a:srgbClr val="8888A0"/>
                </a:solidFill>
                <a:latin typeface="Inter"/>
              </a:rPr>
              <a:t>Lunch</a:t>
            </a:r>
          </a:p>
        </p:txBody>
      </p:sp>
      <p:sp>
        <p:nvSpPr>
          <p:cNvPr id="20" name="TextBox 19"/>
          <p:cNvSpPr txBox="1"/>
          <p:nvPr/>
        </p:nvSpPr>
        <p:spPr>
          <a:xfrm>
            <a:off x="548640" y="4297680"/>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12:45</a:t>
            </a:r>
          </a:p>
        </p:txBody>
      </p:sp>
      <p:sp>
        <p:nvSpPr>
          <p:cNvPr id="21" name="TextBox 20"/>
          <p:cNvSpPr txBox="1"/>
          <p:nvPr/>
        </p:nvSpPr>
        <p:spPr>
          <a:xfrm>
            <a:off x="1783080"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2" name="TextBox 21"/>
          <p:cNvSpPr txBox="1"/>
          <p:nvPr/>
        </p:nvSpPr>
        <p:spPr>
          <a:xfrm>
            <a:off x="6850227"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Sooki-Toth</a:t>
            </a:r>
          </a:p>
        </p:txBody>
      </p:sp>
      <p:sp>
        <p:nvSpPr>
          <p:cNvPr id="23" name="TextBox 22"/>
          <p:cNvSpPr txBox="1"/>
          <p:nvPr/>
        </p:nvSpPr>
        <p:spPr>
          <a:xfrm>
            <a:off x="548640" y="473659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13:50</a:t>
            </a:r>
          </a:p>
        </p:txBody>
      </p:sp>
      <p:sp>
        <p:nvSpPr>
          <p:cNvPr id="24" name="TextBox 23"/>
          <p:cNvSpPr txBox="1"/>
          <p:nvPr/>
        </p:nvSpPr>
        <p:spPr>
          <a:xfrm>
            <a:off x="1783080"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RTFM — When Documentation Creates Critical Misconfiguration</a:t>
            </a:r>
          </a:p>
          <a:p>
            <a:pPr algn="l"/>
            <a:r>
              <a:rPr sz="900">
                <a:solidFill>
                  <a:srgbClr val="8888A0"/>
                </a:solidFill>
                <a:latin typeface="JetBrains Mono"/>
              </a:rPr>
              <a:t>Martin Sohn Christensen</a:t>
            </a:r>
          </a:p>
        </p:txBody>
      </p:sp>
      <p:sp>
        <p:nvSpPr>
          <p:cNvPr id="25" name="TextBox 24"/>
          <p:cNvSpPr txBox="1"/>
          <p:nvPr/>
        </p:nvSpPr>
        <p:spPr>
          <a:xfrm>
            <a:off x="6850227"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Emerging Frontiers: Ransomware Attacks in AI Systems</a:t>
            </a:r>
          </a:p>
          <a:p>
            <a:pPr algn="l"/>
            <a:r>
              <a:rPr sz="900">
                <a:solidFill>
                  <a:srgbClr val="8888A0"/>
                </a:solidFill>
                <a:latin typeface="JetBrains Mono"/>
              </a:rPr>
              <a:t>Behnaz Karimi &amp; Yuvaraj Govindarajulu</a:t>
            </a:r>
          </a:p>
        </p:txBody>
      </p:sp>
      <p:sp>
        <p:nvSpPr>
          <p:cNvPr id="26" name="TextBox 25"/>
          <p:cNvSpPr txBox="1"/>
          <p:nvPr/>
        </p:nvSpPr>
        <p:spPr>
          <a:xfrm>
            <a:off x="548640" y="517550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14:50</a:t>
            </a:r>
          </a:p>
        </p:txBody>
      </p:sp>
      <p:sp>
        <p:nvSpPr>
          <p:cNvPr id="27" name="TextBox 26"/>
          <p:cNvSpPr txBox="1"/>
          <p:nvPr/>
        </p:nvSpPr>
        <p:spPr>
          <a:xfrm>
            <a:off x="1783080"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28" name="TextBox 27"/>
          <p:cNvSpPr txBox="1"/>
          <p:nvPr/>
        </p:nvSpPr>
        <p:spPr>
          <a:xfrm>
            <a:off x="6850227"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Nebula — 5 years, still kicking *aaS</a:t>
            </a:r>
          </a:p>
          <a:p>
            <a:pPr algn="l"/>
            <a:r>
              <a:rPr sz="900">
                <a:solidFill>
                  <a:srgbClr val="8888A0"/>
                </a:solidFill>
                <a:latin typeface="JetBrains Mono"/>
              </a:rPr>
              <a:t>Bleon Proko</a:t>
            </a:r>
          </a:p>
        </p:txBody>
      </p:sp>
      <p:sp>
        <p:nvSpPr>
          <p:cNvPr id="29" name="TextBox 28"/>
          <p:cNvSpPr txBox="1"/>
          <p:nvPr/>
        </p:nvSpPr>
        <p:spPr>
          <a:xfrm>
            <a:off x="548640" y="561441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15:30</a:t>
            </a:r>
          </a:p>
        </p:txBody>
      </p:sp>
      <p:sp>
        <p:nvSpPr>
          <p:cNvPr id="30" name="TextBox 29"/>
          <p:cNvSpPr txBox="1"/>
          <p:nvPr/>
        </p:nvSpPr>
        <p:spPr>
          <a:xfrm>
            <a:off x="1645920" y="5614416"/>
            <a:ext cx="9997135" cy="438912"/>
          </a:xfrm>
          <a:prstGeom prst="rect">
            <a:avLst/>
          </a:prstGeom>
          <a:noFill/>
        </p:spPr>
        <p:txBody>
          <a:bodyPr wrap="square" lIns="0" rIns="0" tIns="0" bIns="0" anchor="ctr">
            <a:spAutoFit/>
          </a:bodyPr>
          <a:lstStyle/>
          <a:p>
            <a:pPr algn="ctr"/>
            <a:r>
              <a:rPr sz="1400" b="0">
                <a:solidFill>
                  <a:srgbClr val="8888A0"/>
                </a:solidFill>
                <a:latin typeface="Inter"/>
              </a:rPr>
              <a:t>Networking session</a:t>
            </a:r>
          </a:p>
        </p:txBody>
      </p:sp>
      <p:sp>
        <p:nvSpPr>
          <p:cNvPr id="31" name="TextBox 30"/>
          <p:cNvSpPr txBox="1"/>
          <p:nvPr/>
        </p:nvSpPr>
        <p:spPr>
          <a:xfrm>
            <a:off x="548640" y="605332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16:30</a:t>
            </a:r>
          </a:p>
        </p:txBody>
      </p:sp>
      <p:sp>
        <p:nvSpPr>
          <p:cNvPr id="32" name="TextBox 31"/>
          <p:cNvSpPr txBox="1"/>
          <p:nvPr/>
        </p:nvSpPr>
        <p:spPr>
          <a:xfrm>
            <a:off x="1645920" y="6053328"/>
            <a:ext cx="9997135" cy="438912"/>
          </a:xfrm>
          <a:prstGeom prst="rect">
            <a:avLst/>
          </a:prstGeom>
          <a:noFill/>
        </p:spPr>
        <p:txBody>
          <a:bodyPr wrap="square" lIns="0" rIns="0" tIns="0" bIns="0" anchor="ctr">
            <a:spAutoFit/>
          </a:bodyPr>
          <a:lstStyle/>
          <a:p>
            <a:pPr algn="ctr"/>
            <a:r>
              <a:rPr sz="1400" b="0">
                <a:solidFill>
                  <a:srgbClr val="8888A0"/>
                </a:solidFill>
                <a:latin typeface="Inter"/>
              </a:rPr>
              <a:t>Continue at Fredagscaféen</a:t>
            </a:r>
          </a:p>
        </p:txBody>
      </p:sp>
      <p:sp>
        <p:nvSpPr>
          <p:cNvPr id="33" name="TextBox 32"/>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4" name="TextBox 33"/>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Agenda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548640"/>
          </a:xfrm>
          <a:prstGeom prst="rect">
            <a:avLst/>
          </a:prstGeom>
          <a:noFill/>
        </p:spPr>
        <p:txBody>
          <a:bodyPr wrap="square" lIns="0" rIns="0" t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rIns="0" t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rIns="0" t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0972800" cy="731520"/>
          </a:xfrm>
          <a:prstGeom prst="rect">
            <a:avLst/>
          </a:prstGeom>
          <a:noFill/>
        </p:spPr>
        <p:txBody>
          <a:bodyPr wrap="square" lIns="0" rIns="0" t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Content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383280"/>
            <a:ext cx="3840480" cy="548640"/>
          </a:xfrm>
          <a:prstGeom prst="rect">
            <a:avLst/>
          </a:prstGeom>
          <a:noFill/>
        </p:spPr>
        <p:txBody>
          <a:bodyPr wrap="square" lIns="0" rIns="0" t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560320"/>
          </a:xfrm>
          <a:prstGeom prst="rect">
            <a:avLst/>
          </a:prstGeom>
          <a:noFill/>
        </p:spPr>
        <p:txBody>
          <a:bodyPr wrap="square" lIns="0" rIns="0" tIns="0" bIns="0" anchor="t">
            <a:spAutoFit/>
          </a:bodyPr>
          <a:lstStyle/>
          <a:p>
            <a:pPr algn="l"/>
            <a:r>
              <a:rPr sz="18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SpeakerPhoto"/>
          <p:cNvPicPr>
            <a:picLocks noChangeAspect="1"/>
          </p:cNvPicPr>
          <p:nvPr/>
        </p:nvPicPr>
        <p:blipFill>
          <a:blip r:embed="rId4"/>
          <a:srcRect/>
          <a:stretch>
            <a:fillRect/>
          </a:stretch>
        </p:blipFill>
        <p:spPr>
          <a:xfrm>
            <a:off x="914400" y="1645920"/>
            <a:ext cx="3108960" cy="3108960"/>
          </a:xfrm>
          <a:prstGeom prst="roundRect">
            <a:avLst>
              <a:gd name="adj" fmla="val 4000"/>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Behnaz Karimi</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Co-Lead / Leader AI Red Teaming OWASP AI Exchange and Founder RAID-AI Framework</a:t>
            </a:r>
          </a:p>
        </p:txBody>
      </p:sp>
      <p:sp>
        <p:nvSpPr>
          <p:cNvPr id="10" name="TextBox 9"/>
          <p:cNvSpPr txBox="1"/>
          <p:nvPr/>
        </p:nvSpPr>
        <p:spPr>
          <a:xfrm>
            <a:off x="4754880" y="3474720"/>
            <a:ext cx="6858000" cy="2103120"/>
          </a:xfrm>
          <a:prstGeom prst="rect">
            <a:avLst/>
          </a:prstGeom>
          <a:noFill/>
        </p:spPr>
        <p:txBody>
          <a:bodyPr wrap="square" lIns="0" tIns="0" rIns="0" bIns="0" anchor="t"/>
          <a:lstStyle/>
          <a:p>
            <a:pPr algn="l"/>
            <a:r>
              <a:rPr sz="1600" b="0">
                <a:solidFill>
                  <a:srgbClr val="8888A0"/>
                </a:solidFill>
                <a:latin typeface="Inter"/>
              </a:rPr>
              <a:t>Behnaz is an AI Security Researcher and the Founder/Creator of the RAID-AI Framework. She is also Co-Author, Co-Lead, and Leader of AI Red Teaming at OWASP AI Exchange, where she actively contributes to advancing security practices for AI systems.</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linkedin.com/in/behnaz-karimi-behi  ·  substack.com/@behnazkarimi</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SpeakerPhoto"/>
          <p:cNvPicPr>
            <a:picLocks noChangeAspect="1"/>
          </p:cNvPicPr>
          <p:nvPr/>
        </p:nvPicPr>
        <p:blipFill>
          <a:blip r:embed="rId4"/>
          <a:srcRect/>
          <a:stretch>
            <a:fillRect/>
          </a:stretch>
        </p:blipFill>
        <p:spPr>
          <a:xfrm>
            <a:off x="914400" y="1645920"/>
            <a:ext cx="3108960" cy="3108960"/>
          </a:xfrm>
          <a:prstGeom prst="roundRect">
            <a:avLst>
              <a:gd name="adj" fmla="val 4000"/>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Aarhus University, Master's Student</a:t>
            </a:r>
          </a:p>
        </p:txBody>
      </p:sp>
      <p:sp>
        <p:nvSpPr>
          <p:cNvPr id="10" name="TextBox 9"/>
          <p:cNvSpPr txBox="1"/>
          <p:nvPr/>
        </p:nvSpPr>
        <p:spPr>
          <a:xfrm>
            <a:off x="4754880" y="3474720"/>
            <a:ext cx="6858000" cy="2103120"/>
          </a:xfrm>
          <a:prstGeom prst="rect">
            <a:avLst/>
          </a:prstGeom>
          <a:noFill/>
        </p:spPr>
        <p:txBody>
          <a:bodyPr wrap="square" lIns="0" tIns="0" rIns="0" bIns="0" anchor="t"/>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SpeakerPhoto"/>
          <p:cNvPicPr>
            <a:picLocks noChangeAspect="1"/>
          </p:cNvPicPr>
          <p:nvPr/>
        </p:nvPicPr>
        <p:blipFill>
          <a:blip r:embed="rId4"/>
          <a:srcRect/>
          <a:stretch>
            <a:fillRect/>
          </a:stretch>
        </p:blipFill>
        <p:spPr>
          <a:xfrm>
            <a:off x="914400" y="1645920"/>
            <a:ext cx="3108960" cy="3108960"/>
          </a:xfrm>
          <a:prstGeom prst="roundRect">
            <a:avLst>
              <a:gd name="adj" fmla="val 4000"/>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Bleon Proko</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Cloud Security Researcher</a:t>
            </a:r>
          </a:p>
        </p:txBody>
      </p:sp>
      <p:sp>
        <p:nvSpPr>
          <p:cNvPr id="10" name="TextBox 9"/>
          <p:cNvSpPr txBox="1"/>
          <p:nvPr/>
        </p:nvSpPr>
        <p:spPr>
          <a:xfrm>
            <a:off x="4754880" y="3474720"/>
            <a:ext cx="6858000" cy="2103120"/>
          </a:xfrm>
          <a:prstGeom prst="rect">
            <a:avLst/>
          </a:prstGeom>
          <a:noFill/>
        </p:spPr>
        <p:txBody>
          <a:bodyPr wrap="square" lIns="0" tIns="0" rIns="0" bIns="0" anchor="t"/>
          <a:lstStyle/>
          <a:p>
            <a:pPr algn="l"/>
            <a:r>
              <a:rPr sz="1600" b="0">
                <a:solidFill>
                  <a:srgbClr val="8888A0"/>
                </a:solidFill>
                <a:latin typeface="Inter"/>
              </a:rPr>
              <a:t>Bleon is a Senior Security Researcher at Exaforce, passionate about Infrastructure Penetration Testing and Security across Active Directory, Cloud (AWS, Azure, GCP, Digital Ocean) and hybrid infrastructures, as well as defense, detection, and threat hunting. He has presented Cloud Penetration Testing and Security topics at conferences including Black Hat USA, Europe and Sector, DEF CON, SANS Pentest Hackfest Hollywood and Amsterdam, and several BSides events in the US and Europe.</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linkedin.com/in/bleon-p-9b2734143  ·  blog.pepperclipp.com</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SpeakerPhoto"/>
          <p:cNvPicPr>
            <a:picLocks noChangeAspect="1"/>
          </p:cNvPicPr>
          <p:nvPr/>
        </p:nvPicPr>
        <p:blipFill>
          <a:blip r:embed="rId4"/>
          <a:srcRect/>
          <a:stretch>
            <a:fillRect/>
          </a:stretch>
        </p:blipFill>
        <p:spPr>
          <a:xfrm>
            <a:off x="914400" y="1645920"/>
            <a:ext cx="3108960" cy="3108960"/>
          </a:xfrm>
          <a:prstGeom prst="roundRect">
            <a:avLst>
              <a:gd name="adj" fmla="val 4000"/>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Truesec, OT Threat Analyst</a:t>
            </a:r>
          </a:p>
        </p:txBody>
      </p:sp>
      <p:sp>
        <p:nvSpPr>
          <p:cNvPr id="10" name="TextBox 9"/>
          <p:cNvSpPr txBox="1"/>
          <p:nvPr/>
        </p:nvSpPr>
        <p:spPr>
          <a:xfrm>
            <a:off x="4754880" y="3474720"/>
            <a:ext cx="6858000" cy="2103120"/>
          </a:xfrm>
          <a:prstGeom prst="rect">
            <a:avLst/>
          </a:prstGeom>
          <a:noFill/>
        </p:spPr>
        <p:txBody>
          <a:bodyPr wrap="square" lIns="0" tIns="0" rIns="0" bIns="0" anchor="t"/>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SpeakerPhoto"/>
          <p:cNvPicPr>
            <a:picLocks noChangeAspect="1"/>
          </p:cNvPicPr>
          <p:nvPr/>
        </p:nvPicPr>
        <p:blipFill>
          <a:blip r:embed="rId4"/>
          <a:srcRect/>
          <a:stretch>
            <a:fillRect/>
          </a:stretch>
        </p:blipFill>
        <p:spPr>
          <a:xfrm>
            <a:off x="914400" y="1645920"/>
            <a:ext cx="3108960" cy="3108960"/>
          </a:xfrm>
          <a:prstGeom prst="roundRect">
            <a:avLst>
              <a:gd name="adj" fmla="val 4000"/>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Developer Advocate at Yubico</a:t>
            </a:r>
          </a:p>
        </p:txBody>
      </p:sp>
      <p:sp>
        <p:nvSpPr>
          <p:cNvPr id="10" name="TextBox 9"/>
          <p:cNvSpPr txBox="1"/>
          <p:nvPr/>
        </p:nvSpPr>
        <p:spPr>
          <a:xfrm>
            <a:off x="4754880" y="3474720"/>
            <a:ext cx="6858000" cy="2103120"/>
          </a:xfrm>
          <a:prstGeom prst="rect">
            <a:avLst/>
          </a:prstGeom>
          <a:noFill/>
        </p:spPr>
        <p:txBody>
          <a:bodyPr wrap="square" lIns="0" tIns="0" rIns="0" bIns="0" anchor="t"/>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SpeakerPhoto"/>
          <p:cNvPicPr>
            <a:picLocks noChangeAspect="1"/>
          </p:cNvPicPr>
          <p:nvPr/>
        </p:nvPicPr>
        <p:blipFill>
          <a:blip r:embed="rId4"/>
          <a:srcRect/>
          <a:stretch>
            <a:fillRect/>
          </a:stretch>
        </p:blipFill>
        <p:spPr>
          <a:xfrm>
            <a:off x="914400" y="1645920"/>
            <a:ext cx="3108960" cy="3108960"/>
          </a:xfrm>
          <a:prstGeom prst="roundRect">
            <a:avLst>
              <a:gd name="adj" fmla="val 4000"/>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Freelance Consultant at ApplSec Consult</a:t>
            </a:r>
          </a:p>
        </p:txBody>
      </p:sp>
      <p:sp>
        <p:nvSpPr>
          <p:cNvPr id="10" name="TextBox 9"/>
          <p:cNvSpPr txBox="1"/>
          <p:nvPr/>
        </p:nvSpPr>
        <p:spPr>
          <a:xfrm>
            <a:off x="4754880" y="3474720"/>
            <a:ext cx="6858000" cy="2103120"/>
          </a:xfrm>
          <a:prstGeom prst="rect">
            <a:avLst/>
          </a:prstGeom>
          <a:noFill/>
        </p:spPr>
        <p:txBody>
          <a:bodyPr wrap="square" lIns="0" tIns="0" rIns="0" bIns="0" anchor="t"/>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SpeakerPhoto"/>
          <p:cNvPicPr>
            <a:picLocks noChangeAspect="1"/>
          </p:cNvPicPr>
          <p:nvPr/>
        </p:nvPicPr>
        <p:blipFill>
          <a:blip r:embed="rId4"/>
          <a:srcRect/>
          <a:stretch>
            <a:fillRect/>
          </a:stretch>
        </p:blipFill>
        <p:spPr>
          <a:xfrm>
            <a:off x="914400" y="1645920"/>
            <a:ext cx="3108960" cy="3108960"/>
          </a:xfrm>
          <a:prstGeom prst="roundRect">
            <a:avLst>
              <a:gd name="adj" fmla="val 4000"/>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Security Researcher @ SpecterOps</a:t>
            </a:r>
          </a:p>
        </p:txBody>
      </p:sp>
      <p:sp>
        <p:nvSpPr>
          <p:cNvPr id="10" name="TextBox 9"/>
          <p:cNvSpPr txBox="1"/>
          <p:nvPr/>
        </p:nvSpPr>
        <p:spPr>
          <a:xfrm>
            <a:off x="4754880" y="3474720"/>
            <a:ext cx="6858000" cy="2103120"/>
          </a:xfrm>
          <a:prstGeom prst="rect">
            <a:avLst/>
          </a:prstGeom>
          <a:noFill/>
        </p:spPr>
        <p:txBody>
          <a:bodyPr wrap="square" lIns="0" tIns="0" rIns="0" bIns="0" anchor="t"/>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SpeakerPhoto"/>
          <p:cNvPicPr>
            <a:picLocks noChangeAspect="1"/>
          </p:cNvPicPr>
          <p:nvPr/>
        </p:nvPicPr>
        <p:blipFill>
          <a:blip r:embed="rId4"/>
          <a:srcRect/>
          <a:stretch>
            <a:fillRect/>
          </a:stretch>
        </p:blipFill>
        <p:spPr>
          <a:xfrm>
            <a:off x="914400" y="1645920"/>
            <a:ext cx="3108960" cy="3108960"/>
          </a:xfrm>
          <a:prstGeom prst="roundRect">
            <a:avLst>
              <a:gd name="adj" fmla="val 4000"/>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Elastic, Principal Security Architect, Security Evangelist</a:t>
            </a:r>
          </a:p>
        </p:txBody>
      </p:sp>
      <p:sp>
        <p:nvSpPr>
          <p:cNvPr id="10" name="TextBox 9"/>
          <p:cNvSpPr txBox="1"/>
          <p:nvPr/>
        </p:nvSpPr>
        <p:spPr>
          <a:xfrm>
            <a:off x="4754880" y="3474720"/>
            <a:ext cx="6858000" cy="2103120"/>
          </a:xfrm>
          <a:prstGeom prst="rect">
            <a:avLst/>
          </a:prstGeom>
          <a:noFill/>
        </p:spPr>
        <p:txBody>
          <a:bodyPr wrap="square" lIns="0" tIns="0" rIns="0" bIns="0" anchor="t"/>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SpeakerPhoto"/>
          <p:cNvPicPr>
            <a:picLocks noChangeAspect="1"/>
          </p:cNvPicPr>
          <p:nvPr/>
        </p:nvPicPr>
        <p:blipFill>
          <a:blip r:embed="rId4"/>
          <a:srcRect/>
          <a:stretch>
            <a:fillRect/>
          </a:stretch>
        </p:blipFill>
        <p:spPr>
          <a:xfrm>
            <a:off x="914400" y="1645920"/>
            <a:ext cx="3108960" cy="3108960"/>
          </a:xfrm>
          <a:prstGeom prst="roundRect">
            <a:avLst>
              <a:gd name="adj" fmla="val 4000"/>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TRUESEC, Vice President</a:t>
            </a:r>
          </a:p>
        </p:txBody>
      </p:sp>
      <p:sp>
        <p:nvSpPr>
          <p:cNvPr id="10" name="TextBox 9"/>
          <p:cNvSpPr txBox="1"/>
          <p:nvPr/>
        </p:nvSpPr>
        <p:spPr>
          <a:xfrm>
            <a:off x="4754880" y="3474720"/>
            <a:ext cx="6858000" cy="2103120"/>
          </a:xfrm>
          <a:prstGeom prst="rect">
            <a:avLst/>
          </a:prstGeom>
          <a:noFill/>
        </p:spPr>
        <p:txBody>
          <a:bodyPr wrap="square" lIns="0" tIns="0" rIns="0" bIns="0" anchor="t"/>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SpeakerPhoto"/>
          <p:cNvPicPr>
            <a:picLocks noChangeAspect="1"/>
          </p:cNvPicPr>
          <p:nvPr/>
        </p:nvPicPr>
        <p:blipFill>
          <a:blip r:embed="rId4"/>
          <a:srcRect/>
          <a:stretch>
            <a:fillRect/>
          </a:stretch>
        </p:blipFill>
        <p:spPr>
          <a:xfrm>
            <a:off x="914400" y="1645920"/>
            <a:ext cx="3108960" cy="3108960"/>
          </a:xfrm>
          <a:prstGeom prst="roundRect">
            <a:avLst>
              <a:gd name="adj" fmla="val 4000"/>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SecOps Automation Lead @ Conscia MDR</a:t>
            </a:r>
          </a:p>
        </p:txBody>
      </p:sp>
      <p:sp>
        <p:nvSpPr>
          <p:cNvPr id="10" name="TextBox 9"/>
          <p:cNvSpPr txBox="1"/>
          <p:nvPr/>
        </p:nvSpPr>
        <p:spPr>
          <a:xfrm>
            <a:off x="4754880" y="3474720"/>
            <a:ext cx="6858000" cy="2103120"/>
          </a:xfrm>
          <a:prstGeom prst="rect">
            <a:avLst/>
          </a:prstGeom>
          <a:noFill/>
        </p:spPr>
        <p:txBody>
          <a:bodyPr wrap="square" lIns="0" tIns="0" rIns="0" bIns="0" anchor="t"/>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SpeakerPhoto"/>
          <p:cNvPicPr>
            <a:picLocks noChangeAspect="1"/>
          </p:cNvPicPr>
          <p:nvPr/>
        </p:nvPicPr>
        <p:blipFill>
          <a:blip r:embed="rId4"/>
          <a:srcRect/>
          <a:stretch>
            <a:fillRect/>
          </a:stretch>
        </p:blipFill>
        <p:spPr>
          <a:xfrm>
            <a:off x="914400" y="1645920"/>
            <a:ext cx="3108960" cy="3108960"/>
          </a:xfrm>
          <a:prstGeom prst="roundRect">
            <a:avLst>
              <a:gd name="adj" fmla="val 4000"/>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Yuvaraj Govindarajulu</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AVP - Product Engineering &amp; Head of Research at Protectt.ai</a:t>
            </a:r>
          </a:p>
        </p:txBody>
      </p:sp>
      <p:sp>
        <p:nvSpPr>
          <p:cNvPr id="10" name="TextBox 9"/>
          <p:cNvSpPr txBox="1"/>
          <p:nvPr/>
        </p:nvSpPr>
        <p:spPr>
          <a:xfrm>
            <a:off x="4754880" y="3474720"/>
            <a:ext cx="6858000" cy="2103120"/>
          </a:xfrm>
          <a:prstGeom prst="rect">
            <a:avLst/>
          </a:prstGeom>
          <a:noFill/>
        </p:spPr>
        <p:txBody>
          <a:bodyPr wrap="square" lIns="0" tIns="0" rIns="0" bIns="0" anchor="t"/>
          <a:lstStyle/>
          <a:p>
            <a:pPr algn="l"/>
            <a:r>
              <a:rPr sz="1600" b="0">
                <a:solidFill>
                  <a:srgbClr val="8888A0"/>
                </a:solidFill>
                <a:latin typeface="Inter"/>
              </a:rPr>
              <a:t>Yuvaraj Govindarajulu is a technical leader with over a decade of experience in AI, Cybersecurity and Embedded Systems R&amp;D. He is the AVP - Product Engineering &amp; Head of Research at Protectt.ai. He is the co-lead of the OWASP AI Bill of Materials Project and the Co-Author, Workstream lead (Harmonization) at the OWASP AI Exchange. With over 22+ International patents filed, his key areas of focus include AI Red Teaming, GenAI Guardrails, Ransomware Attacks on AI and AI supply chain Security.</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linkedin.com/in/yuvaraj-govindarajulu</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