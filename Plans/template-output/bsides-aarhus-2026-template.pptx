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1463040"/>
          </a:xfrm>
          <a:prstGeom prst="rect">
            <a:avLst/>
          </a:prstGeom>
          <a:solidFill>
            <a:srgbClr val="1212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502920"/>
            <a:ext cx="864973" cy="6400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201168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4AB8D2"/>
                </a:solidFill>
                <a:latin typeface="JetBrains Mono"/>
              </a:rPr>
              <a:t>SECURITY CONFERENCE  ·  AARHUS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468880"/>
            <a:ext cx="109728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200" b="1">
                <a:solidFill>
                  <a:srgbClr val="E8E8ED"/>
                </a:solidFill>
                <a:latin typeface="Inter"/>
              </a:rPr>
              <a:t>BSides Aarhus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20624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0">
                <a:solidFill>
                  <a:srgbClr val="6DD0E7"/>
                </a:solidFill>
                <a:latin typeface="Inter"/>
              </a:rPr>
              <a:t>Talk title goes here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937760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>
                <a:solidFill>
                  <a:srgbClr val="8888A0"/>
                </a:solidFill>
                <a:latin typeface="Inter"/>
              </a:rPr>
              <a:t>Speaker Name  ·  Affiliation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217920"/>
            <a:ext cx="12191695" cy="38100"/>
          </a:xfrm>
          <a:prstGeom prst="rect">
            <a:avLst/>
          </a:prstGeom>
          <a:solidFill>
            <a:srgbClr val="4AB8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355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8888A0"/>
                </a:solidFill>
                <a:latin typeface="JetBrains Mono"/>
              </a:rPr>
              <a:t>JUNE 20, 2026  ·  INCUBA NEXT, KATRINEBJERG  ·  BSIDESAARHUS.DK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57200"/>
            <a:ext cx="679622" cy="50292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1234440"/>
            <a:ext cx="822960" cy="38100"/>
          </a:xfrm>
          <a:prstGeom prst="rect">
            <a:avLst/>
          </a:prstGeom>
          <a:solidFill>
            <a:srgbClr val="4AB8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1">
                <a:solidFill>
                  <a:srgbClr val="E8E8ED"/>
                </a:solidFill>
                <a:latin typeface="Inter"/>
              </a:rPr>
              <a:t>Agenda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331720"/>
            <a:ext cx="11064240" cy="411480"/>
          </a:xfrm>
          <a:prstGeom prst="rect">
            <a:avLst/>
          </a:prstGeom>
          <a:solidFill>
            <a:srgbClr val="1A1A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381720"/>
            <a:ext cx="128016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4AB8D2"/>
                </a:solidFill>
                <a:latin typeface="JetBrains Mono"/>
              </a:rPr>
              <a:t>09:00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03120" y="2381720"/>
            <a:ext cx="68580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E8E8ED"/>
                </a:solidFill>
                <a:latin typeface="Inter"/>
              </a:rPr>
              <a:t>Breakfast &amp; networking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0" y="2381720"/>
            <a:ext cx="256032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200" b="0">
                <a:solidFill>
                  <a:srgbClr val="8888A0"/>
                </a:solidFill>
                <a:latin typeface="Inter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793200"/>
            <a:ext cx="128016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4AB8D2"/>
                </a:solidFill>
                <a:latin typeface="JetBrains Mono"/>
              </a:rPr>
              <a:t>10:00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03120" y="2793200"/>
            <a:ext cx="68580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E8E8ED"/>
                </a:solidFill>
                <a:latin typeface="Inter"/>
              </a:rPr>
              <a:t>Track 1 / Track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0" y="2793200"/>
            <a:ext cx="256032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200" b="0">
                <a:solidFill>
                  <a:srgbClr val="8888A0"/>
                </a:solidFill>
                <a:latin typeface="Inter"/>
              </a:rPr>
              <a:t>Parallel talks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154680"/>
            <a:ext cx="11064240" cy="411480"/>
          </a:xfrm>
          <a:prstGeom prst="rect">
            <a:avLst/>
          </a:prstGeom>
          <a:solidFill>
            <a:srgbClr val="1A1A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3204680"/>
            <a:ext cx="128016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4AB8D2"/>
                </a:solidFill>
                <a:latin typeface="JetBrains Mono"/>
              </a:rPr>
              <a:t>11:00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03120" y="3204680"/>
            <a:ext cx="68580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E8E8ED"/>
                </a:solidFill>
                <a:latin typeface="Inter"/>
              </a:rPr>
              <a:t>Track 1 / Track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61120" y="3204680"/>
            <a:ext cx="256032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200" b="0">
                <a:solidFill>
                  <a:srgbClr val="8888A0"/>
                </a:solidFill>
                <a:latin typeface="Inter"/>
              </a:rPr>
              <a:t>Parallel talks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3616160"/>
            <a:ext cx="128016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4AB8D2"/>
                </a:solidFill>
                <a:latin typeface="JetBrains Mono"/>
              </a:rPr>
              <a:t>11:45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03120" y="3616160"/>
            <a:ext cx="68580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E8E8ED"/>
                </a:solidFill>
                <a:latin typeface="Inter"/>
              </a:rPr>
              <a:t>Lunch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61120" y="3616160"/>
            <a:ext cx="256032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200" b="0">
                <a:solidFill>
                  <a:srgbClr val="8888A0"/>
                </a:solidFill>
                <a:latin typeface="Inter"/>
              </a:rPr>
              <a:t/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3977640"/>
            <a:ext cx="11064240" cy="411480"/>
          </a:xfrm>
          <a:prstGeom prst="rect">
            <a:avLst/>
          </a:prstGeom>
          <a:solidFill>
            <a:srgbClr val="1A1A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4027640"/>
            <a:ext cx="128016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4AB8D2"/>
                </a:solidFill>
                <a:latin typeface="JetBrains Mono"/>
              </a:rPr>
              <a:t>12:45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03120" y="4027640"/>
            <a:ext cx="68580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E8E8ED"/>
                </a:solidFill>
                <a:latin typeface="Inter"/>
              </a:rPr>
              <a:t>Track 1 / Track 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61120" y="4027640"/>
            <a:ext cx="256032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200" b="0">
                <a:solidFill>
                  <a:srgbClr val="8888A0"/>
                </a:solidFill>
                <a:latin typeface="Inter"/>
              </a:rPr>
              <a:t>Parallel talks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4439120"/>
            <a:ext cx="128016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4AB8D2"/>
                </a:solidFill>
                <a:latin typeface="JetBrains Mono"/>
              </a:rPr>
              <a:t>13:50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03120" y="4439120"/>
            <a:ext cx="68580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E8E8ED"/>
                </a:solidFill>
                <a:latin typeface="Inter"/>
              </a:rPr>
              <a:t>Track 1 / Track 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61120" y="4439120"/>
            <a:ext cx="256032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200" b="0">
                <a:solidFill>
                  <a:srgbClr val="8888A0"/>
                </a:solidFill>
                <a:latin typeface="Inter"/>
              </a:rPr>
              <a:t>Parallel talks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4800600"/>
            <a:ext cx="11064240" cy="411480"/>
          </a:xfrm>
          <a:prstGeom prst="rect">
            <a:avLst/>
          </a:prstGeom>
          <a:solidFill>
            <a:srgbClr val="1A1A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7240" y="4850600"/>
            <a:ext cx="128016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4AB8D2"/>
                </a:solidFill>
                <a:latin typeface="JetBrains Mono"/>
              </a:rPr>
              <a:t>14:50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103120" y="4850600"/>
            <a:ext cx="68580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E8E8ED"/>
                </a:solidFill>
                <a:latin typeface="Inter"/>
              </a:rPr>
              <a:t>Track 1 / Track 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961120" y="4850600"/>
            <a:ext cx="256032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200" b="0">
                <a:solidFill>
                  <a:srgbClr val="8888A0"/>
                </a:solidFill>
                <a:latin typeface="Inter"/>
              </a:rPr>
              <a:t>Parallel talks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5262080"/>
            <a:ext cx="128016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4AB8D2"/>
                </a:solidFill>
                <a:latin typeface="JetBrains Mono"/>
              </a:rPr>
              <a:t>15:30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103120" y="5262080"/>
            <a:ext cx="68580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E8E8ED"/>
                </a:solidFill>
                <a:latin typeface="Inter"/>
              </a:rPr>
              <a:t>Networking session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961120" y="5262080"/>
            <a:ext cx="256032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200" b="0">
                <a:solidFill>
                  <a:srgbClr val="8888A0"/>
                </a:solidFill>
                <a:latin typeface="Inter"/>
              </a:rPr>
              <a:t/>
            </a:r>
          </a:p>
        </p:txBody>
      </p:sp>
      <p:sp>
        <p:nvSpPr>
          <p:cNvPr id="34" name="Rectangle 33"/>
          <p:cNvSpPr/>
          <p:nvPr/>
        </p:nvSpPr>
        <p:spPr>
          <a:xfrm>
            <a:off x="548640" y="5623560"/>
            <a:ext cx="11064240" cy="411480"/>
          </a:xfrm>
          <a:prstGeom prst="rect">
            <a:avLst/>
          </a:prstGeom>
          <a:solidFill>
            <a:srgbClr val="1A1A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77240" y="5673560"/>
            <a:ext cx="128016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4AB8D2"/>
                </a:solidFill>
                <a:latin typeface="JetBrains Mono"/>
              </a:rPr>
              <a:t>16:30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103120" y="5673560"/>
            <a:ext cx="68580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E8E8ED"/>
                </a:solidFill>
                <a:latin typeface="Inter"/>
              </a:rPr>
              <a:t>Continue at Fredagscaféen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961120" y="5673560"/>
            <a:ext cx="256032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200" b="0">
                <a:solidFill>
                  <a:srgbClr val="8888A0"/>
                </a:solidFill>
                <a:latin typeface="Inter"/>
              </a:rPr>
              <a:t/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8888A0"/>
                </a:solidFill>
                <a:latin typeface="JetBrains Mono"/>
              </a:rPr>
              <a:t>BSides Aarhus 2026  ·  June 20  ·  INCUBA Next, Aarhus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8888A0"/>
                </a:solidFill>
                <a:latin typeface="JetBrains Mono"/>
              </a:rPr>
              <a:t>Agenda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2011680"/>
            <a:ext cx="109728" cy="2743200"/>
          </a:xfrm>
          <a:prstGeom prst="rect">
            <a:avLst/>
          </a:prstGeom>
          <a:solidFill>
            <a:srgbClr val="4AB8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92024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4AB8D2"/>
                </a:solidFill>
                <a:latin typeface="JetBrains Mono"/>
              </a:rPr>
              <a:t>SECTION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468880"/>
            <a:ext cx="105156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000" b="1">
                <a:solidFill>
                  <a:srgbClr val="E8E8ED"/>
                </a:solidFill>
                <a:latin typeface="Inter"/>
              </a:rPr>
              <a:t>Section title goes here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20624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>
                <a:solidFill>
                  <a:srgbClr val="8888A0"/>
                </a:solidFill>
                <a:latin typeface="Inter"/>
              </a:rPr>
              <a:t>Optional one-line description for this section.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8888A0"/>
                </a:solidFill>
                <a:latin typeface="JetBrains Mono"/>
              </a:rPr>
              <a:t>BSides Aarhus 2026  ·  June 20  ·  INCUBA Next, Aarhus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57200"/>
            <a:ext cx="617838" cy="4572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1188720"/>
            <a:ext cx="640080" cy="38100"/>
          </a:xfrm>
          <a:prstGeom prst="rect">
            <a:avLst/>
          </a:prstGeom>
          <a:solidFill>
            <a:srgbClr val="4AB8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2588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>
                <a:solidFill>
                  <a:srgbClr val="E8E8ED"/>
                </a:solidFill>
                <a:latin typeface="Inter"/>
              </a:rPr>
              <a:t>Slide title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286000"/>
            <a:ext cx="110642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>
                <a:solidFill>
                  <a:srgbClr val="4AB8D2"/>
                </a:solidFill>
                <a:latin typeface="JetBrains Mono"/>
              </a:rPr>
              <a:t>▍ </a:t>
            </a:r>
            <a:r>
              <a:rPr sz="2200">
                <a:solidFill>
                  <a:srgbClr val="E8E8ED"/>
                </a:solidFill>
                <a:latin typeface="Inter"/>
              </a:rPr>
              <a:t>Primary point — short, declarative, one idea per line</a:t>
            </a:r>
          </a:p>
          <a:p>
            <a:pPr algn="l">
              <a:spcAft>
                <a:spcPts val="1000"/>
              </a:spcAft>
            </a:pPr>
            <a:r>
              <a:rPr sz="2000">
                <a:solidFill>
                  <a:srgbClr val="4AB8D2"/>
                </a:solidFill>
                <a:latin typeface="JetBrains Mono"/>
              </a:rPr>
              <a:t>▍ </a:t>
            </a:r>
            <a:r>
              <a:rPr sz="2200">
                <a:solidFill>
                  <a:srgbClr val="E8E8ED"/>
                </a:solidFill>
                <a:latin typeface="Inter"/>
              </a:rPr>
              <a:t>Supporting detail with concrete example</a:t>
            </a:r>
          </a:p>
          <a:p>
            <a:pPr algn="l">
              <a:spcAft>
                <a:spcPts val="1000"/>
              </a:spcAft>
            </a:pPr>
            <a:r>
              <a:rPr sz="2000">
                <a:solidFill>
                  <a:srgbClr val="4AB8D2"/>
                </a:solidFill>
                <a:latin typeface="JetBrains Mono"/>
              </a:rPr>
              <a:t>▍ </a:t>
            </a:r>
            <a:r>
              <a:rPr sz="2200">
                <a:solidFill>
                  <a:srgbClr val="E8E8ED"/>
                </a:solidFill>
                <a:latin typeface="Inter"/>
              </a:rPr>
              <a:t>Evidence, data, or reference</a:t>
            </a:r>
          </a:p>
          <a:p>
            <a:pPr algn="l">
              <a:spcAft>
                <a:spcPts val="1000"/>
              </a:spcAft>
            </a:pPr>
            <a:r>
              <a:rPr sz="2000">
                <a:solidFill>
                  <a:srgbClr val="4AB8D2"/>
                </a:solidFill>
                <a:latin typeface="JetBrains Mono"/>
              </a:rPr>
              <a:t>▍ </a:t>
            </a:r>
            <a:r>
              <a:rPr sz="2200">
                <a:solidFill>
                  <a:srgbClr val="E8E8ED"/>
                </a:solidFill>
                <a:latin typeface="Inter"/>
              </a:rPr>
              <a:t>Takeaway or call to action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8888A0"/>
                </a:solidFill>
                <a:latin typeface="JetBrains Mono"/>
              </a:rPr>
              <a:t>BSides Aarhus 2026  ·  June 20  ·  INCUBA Next, Aarhus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8888A0"/>
                </a:solidFill>
                <a:latin typeface="JetBrains Mono"/>
              </a:rPr>
              <a:t>Content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57200"/>
            <a:ext cx="617838" cy="4572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48640" y="1463040"/>
            <a:ext cx="3840480" cy="4389120"/>
          </a:xfrm>
          <a:prstGeom prst="roundRect">
            <a:avLst>
              <a:gd name="adj" fmla="val 4000"/>
            </a:avLst>
          </a:prstGeom>
          <a:solidFill>
            <a:srgbClr val="1A1A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383280"/>
            <a:ext cx="3840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0">
                <a:solidFill>
                  <a:srgbClr val="8888A0"/>
                </a:solidFill>
                <a:latin typeface="JetBrains Mono"/>
              </a:rPr>
              <a:t>[ Photo ]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0" y="1371600"/>
            <a:ext cx="640080" cy="38100"/>
          </a:xfrm>
          <a:prstGeom prst="rect">
            <a:avLst/>
          </a:prstGeom>
          <a:solidFill>
            <a:srgbClr val="4AB8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0" y="1508760"/>
            <a:ext cx="6858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4AB8D2"/>
                </a:solidFill>
                <a:latin typeface="JetBrains Mono"/>
              </a:rPr>
              <a:t>SPEAKER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0" y="1920240"/>
            <a:ext cx="68580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>
                <a:solidFill>
                  <a:srgbClr val="E8E8ED"/>
                </a:solidFill>
                <a:latin typeface="Inter"/>
              </a:rPr>
              <a:t>Speaker Name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0" y="2788920"/>
            <a:ext cx="6858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>
                <a:solidFill>
                  <a:srgbClr val="6DD0E7"/>
                </a:solidFill>
                <a:latin typeface="Inter"/>
              </a:rPr>
              <a:t>Role  ·  Company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3474720"/>
            <a:ext cx="6858000" cy="2560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8888A0"/>
                </a:solidFill>
                <a:latin typeface="Inter"/>
              </a:rPr>
              <a:t>Short bio. Two or three sentences about background, specialization, and what the audience will take away from the talk. Keep it conversational and specific.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5669280"/>
            <a:ext cx="6858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4AB8D2"/>
                </a:solidFill>
                <a:latin typeface="JetBrains Mono"/>
              </a:rPr>
              <a:t>@handle  ·  speaker.example.com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8888A0"/>
                </a:solidFill>
                <a:latin typeface="JetBrains Mono"/>
              </a:rPr>
              <a:t>BSides Aarhus 2026  ·  June 20  ·  INCUBA Next, Aarhus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8888A0"/>
                </a:solidFill>
                <a:latin typeface="JetBrains Mono"/>
              </a:rPr>
              <a:t>Speaker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