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41EA1A9D-ED10-42BF-B56B-194336BEC4BC}">
          <p14:sldIdLst>
            <p14:sldId id="256"/>
            <p14:sldId id="257"/>
            <p14:sldId id="258"/>
            <p14:sldId id="259"/>
            <p14:sldId id="260"/>
            <p14:sldId id="261"/>
          </p14:sldIdLst>
        </p14:section>
        <p14:section name="Track 1" id="{AA4AB062-3D0D-44B7-B88D-17DC1EAC6A94}">
          <p14:sldIdLst>
            <p14:sldId id="262"/>
            <p14:sldId id="263"/>
            <p14:sldId id="264"/>
            <p14:sldId id="265"/>
            <p14:sldId id="266"/>
          </p14:sldIdLst>
        </p14:section>
        <p14:section name="Track 2" id="{7EE57DA3-E14F-4E34-AF91-5C43F212F52B}">
          <p14:sldIdLst>
            <p14:sldId id="267"/>
            <p14:sldId id="268"/>
            <p14:sldId id="269"/>
            <p14:sldId id="270"/>
            <p14:sldId id="27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1235676" cy="91440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STORE AUD</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LILLE AUD</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To Be Announced</a:t>
            </a:r>
          </a:p>
          <a:p>
            <a:pPr algn="l"/>
            <a:r>
              <a:rPr sz="900">
                <a:solidFill>
                  <a:srgbClr val="8888A0"/>
                </a:solidFill>
                <a:latin typeface="JetBrains Mono"/>
              </a:rPr>
              <a:t>Klaus Agnoletti</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Soóki-Tóth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Side Quest: "Whodunit?" – Unintentional System Compromise</a:t>
            </a:r>
          </a:p>
          <a:p>
            <a:pPr algn="l"/>
            <a:r>
              <a:rPr sz="900">
                <a:solidFill>
                  <a:srgbClr val="8888A0"/>
                </a:solidFill>
                <a:latin typeface="JetBrains Mono"/>
              </a:rPr>
              <a:t>Mikkel Ole Rømer</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889686" cy="658368"/>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Thank You to Our Sponsors</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BSides Aarhus 2026 is made possible by</a:t>
            </a:r>
          </a:p>
        </p:txBody>
      </p:sp>
      <p:sp>
        <p:nvSpPr>
          <p:cNvPr id="7" name="TextBox 6"/>
          <p:cNvSpPr txBox="1"/>
          <p:nvPr/>
        </p:nvSpPr>
        <p:spPr>
          <a:xfrm>
            <a:off x="548640" y="1874519"/>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PARTNERS</a:t>
            </a:r>
          </a:p>
        </p:txBody>
      </p:sp>
      <p:sp>
        <p:nvSpPr>
          <p:cNvPr id="8" name="Rounded Rectangle 7"/>
          <p:cNvSpPr/>
          <p:nvPr/>
        </p:nvSpPr>
        <p:spPr>
          <a:xfrm>
            <a:off x="2232507" y="2185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305659" y="2258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arhusKommuneErhverv_Logo.png"/>
          <p:cNvPicPr>
            <a:picLocks noChangeAspect="1"/>
          </p:cNvPicPr>
          <p:nvPr/>
        </p:nvPicPr>
        <p:blipFill>
          <a:blip r:embed="rId4"/>
          <a:stretch>
            <a:fillRect/>
          </a:stretch>
        </p:blipFill>
        <p:spPr>
          <a:xfrm>
            <a:off x="3540099" y="2295144"/>
            <a:ext cx="1042415" cy="521207"/>
          </a:xfrm>
          <a:prstGeom prst="rect">
            <a:avLst/>
          </a:prstGeom>
        </p:spPr>
      </p:pic>
      <p:sp>
        <p:nvSpPr>
          <p:cNvPr id="11" name="Rounded Rectangle 10"/>
          <p:cNvSpPr/>
          <p:nvPr/>
        </p:nvSpPr>
        <p:spPr>
          <a:xfrm>
            <a:off x="6301587" y="2185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ruesec-Logo-Large-White.png"/>
          <p:cNvPicPr>
            <a:picLocks noChangeAspect="1"/>
          </p:cNvPicPr>
          <p:nvPr/>
        </p:nvPicPr>
        <p:blipFill>
          <a:blip r:embed="rId5"/>
          <a:stretch>
            <a:fillRect/>
          </a:stretch>
        </p:blipFill>
        <p:spPr>
          <a:xfrm>
            <a:off x="6421243" y="2295144"/>
            <a:ext cx="3418287" cy="521207"/>
          </a:xfrm>
          <a:prstGeom prst="rect">
            <a:avLst/>
          </a:prstGeom>
        </p:spPr>
      </p:pic>
      <p:sp>
        <p:nvSpPr>
          <p:cNvPr id="13" name="TextBox 12"/>
          <p:cNvSpPr txBox="1"/>
          <p:nvPr/>
        </p:nvSpPr>
        <p:spPr>
          <a:xfrm>
            <a:off x="548640" y="3017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FRIENDS</a:t>
            </a:r>
          </a:p>
        </p:txBody>
      </p:sp>
      <p:sp>
        <p:nvSpPr>
          <p:cNvPr id="14" name="Rounded Rectangle 13"/>
          <p:cNvSpPr/>
          <p:nvPr/>
        </p:nvSpPr>
        <p:spPr>
          <a:xfrm>
            <a:off x="2232507" y="3328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_sponsor_baldur_security_final.png"/>
          <p:cNvPicPr>
            <a:picLocks noChangeAspect="1"/>
          </p:cNvPicPr>
          <p:nvPr/>
        </p:nvPicPr>
        <p:blipFill>
          <a:blip r:embed="rId6"/>
          <a:stretch>
            <a:fillRect/>
          </a:stretch>
        </p:blipFill>
        <p:spPr>
          <a:xfrm>
            <a:off x="2627551" y="3438144"/>
            <a:ext cx="2867512" cy="521207"/>
          </a:xfrm>
          <a:prstGeom prst="rect">
            <a:avLst/>
          </a:prstGeom>
        </p:spPr>
      </p:pic>
      <p:sp>
        <p:nvSpPr>
          <p:cNvPr id="16" name="Rounded Rectangle 15"/>
          <p:cNvSpPr/>
          <p:nvPr/>
        </p:nvSpPr>
        <p:spPr>
          <a:xfrm>
            <a:off x="6301587" y="3328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4739" y="3401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ticker-mule.png"/>
          <p:cNvPicPr>
            <a:picLocks noChangeAspect="1"/>
          </p:cNvPicPr>
          <p:nvPr/>
        </p:nvPicPr>
        <p:blipFill>
          <a:blip r:embed="rId7"/>
          <a:stretch>
            <a:fillRect/>
          </a:stretch>
        </p:blipFill>
        <p:spPr>
          <a:xfrm>
            <a:off x="7701385" y="3438144"/>
            <a:ext cx="858004" cy="521207"/>
          </a:xfrm>
          <a:prstGeom prst="rect">
            <a:avLst/>
          </a:prstGeom>
        </p:spPr>
      </p:pic>
      <p:sp>
        <p:nvSpPr>
          <p:cNvPr id="19" name="TextBox 18"/>
          <p:cNvSpPr txBox="1"/>
          <p:nvPr/>
        </p:nvSpPr>
        <p:spPr>
          <a:xfrm>
            <a:off x="548640" y="4160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COMMUNITY STUDENT FRIENDS</a:t>
            </a:r>
          </a:p>
        </p:txBody>
      </p:sp>
      <p:sp>
        <p:nvSpPr>
          <p:cNvPr id="20" name="Rounded Rectangle 19"/>
          <p:cNvSpPr/>
          <p:nvPr/>
        </p:nvSpPr>
        <p:spPr>
          <a:xfrm>
            <a:off x="2232507" y="4471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ech-hub-aarhus.png"/>
          <p:cNvPicPr>
            <a:picLocks noChangeAspect="1"/>
          </p:cNvPicPr>
          <p:nvPr/>
        </p:nvPicPr>
        <p:blipFill>
          <a:blip r:embed="rId8"/>
          <a:stretch>
            <a:fillRect/>
          </a:stretch>
        </p:blipFill>
        <p:spPr>
          <a:xfrm>
            <a:off x="3317316" y="4581144"/>
            <a:ext cx="1487981" cy="521207"/>
          </a:xfrm>
          <a:prstGeom prst="rect">
            <a:avLst/>
          </a:prstGeom>
        </p:spPr>
      </p:pic>
      <p:sp>
        <p:nvSpPr>
          <p:cNvPr id="22" name="Rounded Rectangle 21"/>
          <p:cNvSpPr/>
          <p:nvPr/>
        </p:nvSpPr>
        <p:spPr>
          <a:xfrm>
            <a:off x="6301587" y="4471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Danske BankLogo White RGB.png"/>
          <p:cNvPicPr>
            <a:picLocks noChangeAspect="1"/>
          </p:cNvPicPr>
          <p:nvPr/>
        </p:nvPicPr>
        <p:blipFill>
          <a:blip r:embed="rId9"/>
          <a:stretch>
            <a:fillRect/>
          </a:stretch>
        </p:blipFill>
        <p:spPr>
          <a:xfrm>
            <a:off x="6411315" y="4665768"/>
            <a:ext cx="3438144" cy="351958"/>
          </a:xfrm>
          <a:prstGeom prst="rect">
            <a:avLst/>
          </a:prstGeom>
        </p:spPr>
      </p:pic>
      <p:sp>
        <p:nvSpPr>
          <p:cNvPr id="24" name="TextBox 23"/>
          <p:cNvSpPr txBox="1"/>
          <p:nvPr/>
        </p:nvSpPr>
        <p:spPr>
          <a:xfrm>
            <a:off x="548640" y="5303520"/>
            <a:ext cx="11094415" cy="256032"/>
          </a:xfrm>
          <a:prstGeom prst="rect">
            <a:avLst/>
          </a:prstGeom>
          <a:noFill/>
        </p:spPr>
        <p:txBody>
          <a:bodyPr wrap="square" lIns="0" rIns="0" tIns="0" bIns="0" anchor="t">
            <a:spAutoFit/>
          </a:bodyPr>
          <a:lstStyle/>
          <a:p>
            <a:pPr algn="ctr"/>
            <a:r>
              <a:rPr sz="1200" b="1">
                <a:solidFill>
                  <a:srgbClr val="4AB8D2"/>
                </a:solidFill>
                <a:latin typeface="JetBrains Mono"/>
              </a:rPr>
              <a:t>VENUE SPONSORS</a:t>
            </a:r>
          </a:p>
        </p:txBody>
      </p:sp>
      <p:sp>
        <p:nvSpPr>
          <p:cNvPr id="25" name="Rounded Rectangle 24"/>
          <p:cNvSpPr/>
          <p:nvPr/>
        </p:nvSpPr>
        <p:spPr>
          <a:xfrm>
            <a:off x="2232507" y="5614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305659" y="5687568"/>
            <a:ext cx="3511296" cy="594359"/>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_sponsor_incuba-logo.png"/>
          <p:cNvPicPr>
            <a:picLocks noChangeAspect="1"/>
          </p:cNvPicPr>
          <p:nvPr/>
        </p:nvPicPr>
        <p:blipFill>
          <a:blip r:embed="rId10"/>
          <a:stretch>
            <a:fillRect/>
          </a:stretch>
        </p:blipFill>
        <p:spPr>
          <a:xfrm>
            <a:off x="3243011" y="5724144"/>
            <a:ext cx="1636593" cy="521207"/>
          </a:xfrm>
          <a:prstGeom prst="rect">
            <a:avLst/>
          </a:prstGeom>
        </p:spPr>
      </p:pic>
      <p:sp>
        <p:nvSpPr>
          <p:cNvPr id="28" name="Rounded Rectangle 27"/>
          <p:cNvSpPr/>
          <p:nvPr/>
        </p:nvSpPr>
        <p:spPr>
          <a:xfrm>
            <a:off x="6301587" y="5614416"/>
            <a:ext cx="3657600" cy="740664"/>
          </a:xfrm>
          <a:prstGeom prst="roundRect">
            <a:avLst>
              <a:gd name="adj" fmla="val 8000"/>
            </a:avLst>
          </a:prstGeom>
          <a:solidFill>
            <a:srgbClr val="1A1A25">
              <a:alpha val="12000"/>
            </a:srgbClr>
          </a:solidFill>
          <a:ln w="9525">
            <a:solidFill>
              <a:srgbClr val="2A2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aulogo_uk_var2_white.png"/>
          <p:cNvPicPr>
            <a:picLocks noChangeAspect="1"/>
          </p:cNvPicPr>
          <p:nvPr/>
        </p:nvPicPr>
        <p:blipFill>
          <a:blip r:embed="rId11"/>
          <a:stretch>
            <a:fillRect/>
          </a:stretch>
        </p:blipFill>
        <p:spPr>
          <a:xfrm>
            <a:off x="6897998" y="5724144"/>
            <a:ext cx="2464778" cy="521207"/>
          </a:xfrm>
          <a:prstGeom prst="rect">
            <a:avLst/>
          </a:prstGeom>
        </p:spPr>
      </p:pic>
      <p:sp>
        <p:nvSpPr>
          <p:cNvPr id="30" name="TextBox 29"/>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1" name="TextBox 30"/>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Sponsors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Klaus Agnoletti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Storytelling Cyber Security Advisor, Relations Security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Klaus Agnoletti has been an all-round infosec professional since 2004. He co-founded BSides København in 2019. Recently he started out as an infosec freelancer focusing on storytelling in marketing, employer branding, game-based learning or wherever new ideas bring him.</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linkedin.com/in/agnoletti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Principal Security Architect, Security Evangelist, Elastic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Mikkel Ole Rømer</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Head of Offensive Security,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Cyber Security Expert - I am mainly engaged with adversary simulation for breach prevention. This experience includes penetration testing and adversary emulation within highly complex infrastructures of some of the largest national and international companies. Besides offensive cyber engagements I have led and designed thorough security analysis exercises of enterprise applications, including review and guidance within secure development practices.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linkedin.com/in/mikkel-r%C3%B8mer  ·  sessionize.com/mikkel-ole-romer</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Vice President,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Master's Student, Aarhus University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OT Threat Analyst, Truesec</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linkedin.com/in/eleni-ioakeim-9bb262aa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889686" cy="658368"/>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