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"/>
            <a:ext cx="864973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AB8D2"/>
                </a:solidFill>
                <a:latin typeface="JetBrains Mono"/>
              </a:rPr>
              <a:t>SECURITY CONFERENCE  ·  AARHUS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E8E8ED"/>
                </a:solidFill>
                <a:latin typeface="Inter"/>
              </a:rPr>
              <a:t>BSides Aarhus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>
                <a:solidFill>
                  <a:srgbClr val="6DD0E7"/>
                </a:solidFill>
                <a:latin typeface="Inter"/>
              </a:rPr>
              <a:t>Talk title goes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8888A0"/>
                </a:solidFill>
                <a:latin typeface="Inter"/>
              </a:rPr>
              <a:t>Speaker Name  ·  Affiliation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217920"/>
            <a:ext cx="12191695" cy="38100"/>
          </a:xfrm>
          <a:prstGeom prst="rect">
            <a:avLst/>
          </a:prstGeom>
          <a:solidFill>
            <a:srgbClr val="4AB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888A0"/>
                </a:solidFill>
                <a:latin typeface="JetBrains Mono"/>
              </a:rPr>
              <a:t>JUNE 20, 2026  ·  INCUBA NEXT, KATRINEBJERG  ·  BSIDESAARHUS.DK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0040"/>
            <a:ext cx="617838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1005840"/>
            <a:ext cx="640080" cy="38100"/>
          </a:xfrm>
          <a:prstGeom prst="rect">
            <a:avLst/>
          </a:prstGeom>
          <a:solidFill>
            <a:srgbClr val="4AB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E8E8ED"/>
                </a:solidFill>
                <a:latin typeface="Inter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888A0"/>
                </a:solidFill>
                <a:latin typeface="JetBrains Mono"/>
              </a:rPr>
              <a:t>JUNE 20, 2026  ·  INCUBA NEXT, KATRINEBJERG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11094415" cy="4407408"/>
          </a:xfrm>
          <a:prstGeom prst="roundRect">
            <a:avLst>
              <a:gd name="adj" fmla="val 2000"/>
            </a:avLst>
          </a:prstGeom>
          <a:solidFill>
            <a:srgbClr val="1A1A25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2148840"/>
            <a:ext cx="4929987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AB8D2"/>
                </a:solidFill>
                <a:latin typeface="JetBrains Mono"/>
              </a:rPr>
              <a:t>TRACK 1  ·  ROOM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13067" y="2148840"/>
            <a:ext cx="4929987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AB8D2"/>
                </a:solidFill>
                <a:latin typeface="JetBrains Mono"/>
              </a:rPr>
              <a:t>TRACK 2  ·  ROOM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42032"/>
            <a:ext cx="960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4AB8D2"/>
                </a:solidFill>
                <a:latin typeface="JetBrains Mono"/>
              </a:rPr>
              <a:t>09:00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42032"/>
            <a:ext cx="999713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8888A0"/>
                </a:solidFill>
                <a:latin typeface="Inter"/>
              </a:rPr>
              <a:t>Breakfast &amp; networking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80944"/>
            <a:ext cx="960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4AB8D2"/>
                </a:solidFill>
                <a:latin typeface="JetBrains Mono"/>
              </a:rPr>
              <a:t>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980944"/>
            <a:ext cx="4655667" cy="438912"/>
          </a:xfrm>
          <a:prstGeom prst="rect">
            <a:avLst/>
          </a:prstGeom>
          <a:noFill/>
        </p:spPr>
        <p:txBody>
          <a:bodyPr wrap="square" lIns="0" rIns="0" tIns="25400" bIns="25400" anchor="ctr">
            <a:spAutoFit/>
          </a:bodyPr>
          <a:lstStyle/>
          <a:p>
            <a:pPr algn="l"/>
            <a:r>
              <a:rPr sz="1100" b="1">
                <a:solidFill>
                  <a:srgbClr val="E8E8ED"/>
                </a:solidFill>
                <a:latin typeface="Inter"/>
              </a:rPr>
              <a:t>WebAuthn: How to get rid of passwords.</a:t>
            </a:r>
          </a:p>
          <a:p>
            <a:pPr algn="l"/>
            <a:r>
              <a:rPr sz="900">
                <a:solidFill>
                  <a:srgbClr val="8888A0"/>
                </a:solidFill>
                <a:latin typeface="JetBrains Mono"/>
              </a:rPr>
              <a:t>Joost van Dijk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0227" y="2980944"/>
            <a:ext cx="4655667" cy="438912"/>
          </a:xfrm>
          <a:prstGeom prst="rect">
            <a:avLst/>
          </a:prstGeom>
          <a:noFill/>
        </p:spPr>
        <p:txBody>
          <a:bodyPr wrap="square" lIns="0" rIns="0" tIns="25400" bIns="25400" anchor="ctr">
            <a:spAutoFit/>
          </a:bodyPr>
          <a:lstStyle/>
          <a:p>
            <a:pPr algn="l"/>
            <a:r>
              <a:rPr sz="1100" b="1">
                <a:solidFill>
                  <a:srgbClr val="E8E8ED"/>
                </a:solidFill>
                <a:latin typeface="Inter"/>
              </a:rPr>
              <a:t>Kernel Wars: Anti-Cheat Reversing, BYOVD &amp; Mitigations</a:t>
            </a:r>
          </a:p>
          <a:p>
            <a:pPr algn="l"/>
            <a:r>
              <a:rPr sz="900">
                <a:solidFill>
                  <a:srgbClr val="8888A0"/>
                </a:solidFill>
                <a:latin typeface="JetBrains Mono"/>
              </a:rPr>
              <a:t>Ravshan Rikhsiev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419856"/>
            <a:ext cx="960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4AB8D2"/>
                </a:solidFill>
                <a:latin typeface="JetBrains Mono"/>
              </a:rPr>
              <a:t>11:00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419856"/>
            <a:ext cx="4655667" cy="438912"/>
          </a:xfrm>
          <a:prstGeom prst="rect">
            <a:avLst/>
          </a:prstGeom>
          <a:noFill/>
        </p:spPr>
        <p:txBody>
          <a:bodyPr wrap="square" lIns="0" rIns="0" tIns="25400" bIns="25400" anchor="ctr">
            <a:spAutoFit/>
          </a:bodyPr>
          <a:lstStyle/>
          <a:p>
            <a:pPr algn="l"/>
            <a:r>
              <a:rPr sz="1100" b="1">
                <a:solidFill>
                  <a:srgbClr val="E8E8ED"/>
                </a:solidFill>
                <a:latin typeface="Inter"/>
              </a:rPr>
              <a:t>Alert Fatigue Therapy: Fixing Broken Detection Rules</a:t>
            </a:r>
          </a:p>
          <a:p>
            <a:pPr algn="l"/>
            <a:r>
              <a:rPr sz="900">
                <a:solidFill>
                  <a:srgbClr val="8888A0"/>
                </a:solidFill>
                <a:latin typeface="JetBrains Mono"/>
              </a:rPr>
              <a:t>Marvin Ngoma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0227" y="3419856"/>
            <a:ext cx="4655667" cy="438912"/>
          </a:xfrm>
          <a:prstGeom prst="rect">
            <a:avLst/>
          </a:prstGeom>
          <a:noFill/>
        </p:spPr>
        <p:txBody>
          <a:bodyPr wrap="square" lIns="0" rIns="0" tIns="25400" bIns="25400" anchor="ctr">
            <a:spAutoFit/>
          </a:bodyPr>
          <a:lstStyle/>
          <a:p>
            <a:pPr algn="l"/>
            <a:r>
              <a:rPr sz="1100" b="1">
                <a:solidFill>
                  <a:srgbClr val="E8E8ED"/>
                </a:solidFill>
                <a:latin typeface="Inter"/>
              </a:rPr>
              <a:t>Remote Cold Execution</a:t>
            </a:r>
          </a:p>
          <a:p>
            <a:pPr algn="l"/>
            <a:r>
              <a:rPr sz="900">
                <a:solidFill>
                  <a:srgbClr val="8888A0"/>
                </a:solidFill>
                <a:latin typeface="JetBrains Mono"/>
              </a:rPr>
              <a:t>Tom Kern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58768"/>
            <a:ext cx="960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4AB8D2"/>
                </a:solidFill>
                <a:latin typeface="JetBrains Mono"/>
              </a:rPr>
              <a:t>11:45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858768"/>
            <a:ext cx="999713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8888A0"/>
                </a:solidFill>
                <a:latin typeface="Inter"/>
              </a:rPr>
              <a:t>Lunch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97680"/>
            <a:ext cx="960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4AB8D2"/>
                </a:solidFill>
                <a:latin typeface="JetBrains Mono"/>
              </a:rPr>
              <a:t>12:45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297680"/>
            <a:ext cx="4655667" cy="438912"/>
          </a:xfrm>
          <a:prstGeom prst="rect">
            <a:avLst/>
          </a:prstGeom>
          <a:noFill/>
        </p:spPr>
        <p:txBody>
          <a:bodyPr wrap="square" lIns="0" rIns="0" tIns="25400" bIns="25400" anchor="ctr">
            <a:spAutoFit/>
          </a:bodyPr>
          <a:lstStyle/>
          <a:p>
            <a:pPr algn="l"/>
            <a:r>
              <a:rPr sz="1100" b="1">
                <a:solidFill>
                  <a:srgbClr val="E8E8ED"/>
                </a:solidFill>
                <a:latin typeface="Inter"/>
              </a:rPr>
              <a:t>We Scanned 10,000 Danish Orgs Without Sending a Single Packet</a:t>
            </a:r>
          </a:p>
          <a:p>
            <a:pPr algn="l"/>
            <a:r>
              <a:rPr sz="900">
                <a:solidFill>
                  <a:srgbClr val="8888A0"/>
                </a:solidFill>
                <a:latin typeface="JetBrains Mono"/>
              </a:rPr>
              <a:t>Morten von Seelen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0227" y="4297680"/>
            <a:ext cx="4655667" cy="438912"/>
          </a:xfrm>
          <a:prstGeom prst="rect">
            <a:avLst/>
          </a:prstGeom>
          <a:noFill/>
        </p:spPr>
        <p:txBody>
          <a:bodyPr wrap="square" lIns="0" rIns="0" tIns="25400" bIns="25400" anchor="ctr">
            <a:spAutoFit/>
          </a:bodyPr>
          <a:lstStyle/>
          <a:p>
            <a:pPr algn="l"/>
            <a:r>
              <a:rPr sz="1100" b="1">
                <a:solidFill>
                  <a:srgbClr val="E8E8ED"/>
                </a:solidFill>
                <a:latin typeface="Inter"/>
              </a:rPr>
              <a:t>Trustless Consensus Manipulation Through Bribing Contracts</a:t>
            </a:r>
          </a:p>
          <a:p>
            <a:pPr algn="l"/>
            <a:r>
              <a:rPr sz="900">
                <a:solidFill>
                  <a:srgbClr val="8888A0"/>
                </a:solidFill>
                <a:latin typeface="JetBrains Mono"/>
              </a:rPr>
              <a:t>Bence Sooki-Toth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36592"/>
            <a:ext cx="960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4AB8D2"/>
                </a:solidFill>
                <a:latin typeface="JetBrains Mono"/>
              </a:rPr>
              <a:t>13:50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736592"/>
            <a:ext cx="4655667" cy="438912"/>
          </a:xfrm>
          <a:prstGeom prst="rect">
            <a:avLst/>
          </a:prstGeom>
          <a:noFill/>
        </p:spPr>
        <p:txBody>
          <a:bodyPr wrap="square" lIns="0" rIns="0" tIns="25400" bIns="25400" anchor="ctr">
            <a:spAutoFit/>
          </a:bodyPr>
          <a:lstStyle/>
          <a:p>
            <a:pPr algn="l"/>
            <a:r>
              <a:rPr sz="1100" b="1">
                <a:solidFill>
                  <a:srgbClr val="E8E8ED"/>
                </a:solidFill>
                <a:latin typeface="Inter"/>
              </a:rPr>
              <a:t>RTFM — When Documentation Creates Critical Misconfiguration</a:t>
            </a:r>
          </a:p>
          <a:p>
            <a:pPr algn="l"/>
            <a:r>
              <a:rPr sz="900">
                <a:solidFill>
                  <a:srgbClr val="8888A0"/>
                </a:solidFill>
                <a:latin typeface="JetBrains Mono"/>
              </a:rPr>
              <a:t>Martin Sohn Christensen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0227" y="4736592"/>
            <a:ext cx="4655667" cy="438912"/>
          </a:xfrm>
          <a:prstGeom prst="rect">
            <a:avLst/>
          </a:prstGeom>
          <a:noFill/>
        </p:spPr>
        <p:txBody>
          <a:bodyPr wrap="square" lIns="0" rIns="0" tIns="25400" bIns="25400" anchor="ctr">
            <a:spAutoFit/>
          </a:bodyPr>
          <a:lstStyle/>
          <a:p>
            <a:pPr algn="l"/>
            <a:r>
              <a:rPr sz="1100" b="1">
                <a:solidFill>
                  <a:srgbClr val="E8E8ED"/>
                </a:solidFill>
                <a:latin typeface="Inter"/>
              </a:rPr>
              <a:t>Emerging Frontiers: Ransomware Attacks in AI Systems</a:t>
            </a:r>
          </a:p>
          <a:p>
            <a:pPr algn="l"/>
            <a:r>
              <a:rPr sz="900">
                <a:solidFill>
                  <a:srgbClr val="8888A0"/>
                </a:solidFill>
                <a:latin typeface="JetBrains Mono"/>
              </a:rPr>
              <a:t>Behnaz Karimi &amp; Yuvaraj Govindarajulu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175504"/>
            <a:ext cx="960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4AB8D2"/>
                </a:solidFill>
                <a:latin typeface="JetBrains Mono"/>
              </a:rPr>
              <a:t>14:50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175504"/>
            <a:ext cx="4655667" cy="438912"/>
          </a:xfrm>
          <a:prstGeom prst="rect">
            <a:avLst/>
          </a:prstGeom>
          <a:noFill/>
        </p:spPr>
        <p:txBody>
          <a:bodyPr wrap="square" lIns="0" rIns="0" tIns="25400" bIns="25400" anchor="ctr">
            <a:spAutoFit/>
          </a:bodyPr>
          <a:lstStyle/>
          <a:p>
            <a:pPr algn="l"/>
            <a:r>
              <a:rPr sz="1100" b="1">
                <a:solidFill>
                  <a:srgbClr val="E8E8ED"/>
                </a:solidFill>
                <a:latin typeface="Inter"/>
              </a:rPr>
              <a:t>Build your own IDS</a:t>
            </a:r>
          </a:p>
          <a:p>
            <a:pPr algn="l"/>
            <a:r>
              <a:rPr sz="900">
                <a:solidFill>
                  <a:srgbClr val="8888A0"/>
                </a:solidFill>
                <a:latin typeface="JetBrains Mono"/>
              </a:rPr>
              <a:t>Eleni Ioakeim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0227" y="5175504"/>
            <a:ext cx="4655667" cy="438912"/>
          </a:xfrm>
          <a:prstGeom prst="rect">
            <a:avLst/>
          </a:prstGeom>
          <a:noFill/>
        </p:spPr>
        <p:txBody>
          <a:bodyPr wrap="square" lIns="0" rIns="0" tIns="25400" bIns="25400" anchor="ctr">
            <a:spAutoFit/>
          </a:bodyPr>
          <a:lstStyle/>
          <a:p>
            <a:pPr algn="l"/>
            <a:r>
              <a:rPr sz="1100" b="1">
                <a:solidFill>
                  <a:srgbClr val="E8E8ED"/>
                </a:solidFill>
                <a:latin typeface="Inter"/>
              </a:rPr>
              <a:t>Nebula — 5 years, still kicking *aaS</a:t>
            </a:r>
          </a:p>
          <a:p>
            <a:pPr algn="l"/>
            <a:r>
              <a:rPr sz="900">
                <a:solidFill>
                  <a:srgbClr val="8888A0"/>
                </a:solidFill>
                <a:latin typeface="JetBrains Mono"/>
              </a:rPr>
              <a:t>Bleon Proko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614416"/>
            <a:ext cx="960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4AB8D2"/>
                </a:solidFill>
                <a:latin typeface="JetBrains Mono"/>
              </a:rPr>
              <a:t>15:30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5920" y="5614416"/>
            <a:ext cx="999713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8888A0"/>
                </a:solidFill>
                <a:latin typeface="Inter"/>
              </a:rPr>
              <a:t>Networking session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053328"/>
            <a:ext cx="960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4AB8D2"/>
                </a:solidFill>
                <a:latin typeface="JetBrains Mono"/>
              </a:rPr>
              <a:t>16:30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6053328"/>
            <a:ext cx="999713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8888A0"/>
                </a:solidFill>
                <a:latin typeface="Inter"/>
              </a:rPr>
              <a:t>Continue at Fredagscaféen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888A0"/>
                </a:solidFill>
                <a:latin typeface="JetBrains Mono"/>
              </a:rPr>
              <a:t>BSides Aarhus 2026  ·  June 20  ·  INCUBA Next, Aarhus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888A0"/>
                </a:solidFill>
                <a:latin typeface="JetBrains Mono"/>
              </a:rP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bg_ele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2011680"/>
            <a:ext cx="109728" cy="2743200"/>
          </a:xfrm>
          <a:prstGeom prst="rect">
            <a:avLst/>
          </a:prstGeom>
          <a:solidFill>
            <a:srgbClr val="4AB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4AB8D2"/>
                </a:solidFill>
                <a:latin typeface="JetBrains Mono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>
                <a:solidFill>
                  <a:srgbClr val="E8E8ED"/>
                </a:solidFill>
                <a:latin typeface="Inter"/>
              </a:rPr>
              <a:t>Section title goes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8888A0"/>
                </a:solidFill>
                <a:latin typeface="Inter"/>
              </a:rPr>
              <a:t>Optional one-line description for this section.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888A0"/>
                </a:solidFill>
                <a:latin typeface="JetBrains Mono"/>
              </a:rPr>
              <a:t>BSides Aarhus 2026  ·  June 20  ·  INCUBA Next, Aarhus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617838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1188720"/>
            <a:ext cx="640080" cy="38100"/>
          </a:xfrm>
          <a:prstGeom prst="rect">
            <a:avLst/>
          </a:prstGeom>
          <a:solidFill>
            <a:srgbClr val="4AB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E8E8ED"/>
                </a:solidFill>
                <a:latin typeface="Inter"/>
              </a:rPr>
              <a:t>Slide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4AB8D2"/>
                </a:solidFill>
                <a:latin typeface="JetBrains Mono"/>
              </a:rPr>
              <a:t>▍ </a:t>
            </a:r>
            <a:r>
              <a:rPr sz="2200">
                <a:solidFill>
                  <a:srgbClr val="E8E8ED"/>
                </a:solidFill>
                <a:latin typeface="Inter"/>
              </a:rPr>
              <a:t>Primary point — short, declarative, one idea per line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4AB8D2"/>
                </a:solidFill>
                <a:latin typeface="JetBrains Mono"/>
              </a:rPr>
              <a:t>▍ </a:t>
            </a:r>
            <a:r>
              <a:rPr sz="2200">
                <a:solidFill>
                  <a:srgbClr val="E8E8ED"/>
                </a:solidFill>
                <a:latin typeface="Inter"/>
              </a:rPr>
              <a:t>Supporting detail with concrete example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4AB8D2"/>
                </a:solidFill>
                <a:latin typeface="JetBrains Mono"/>
              </a:rPr>
              <a:t>▍ </a:t>
            </a:r>
            <a:r>
              <a:rPr sz="2200">
                <a:solidFill>
                  <a:srgbClr val="E8E8ED"/>
                </a:solidFill>
                <a:latin typeface="Inter"/>
              </a:rPr>
              <a:t>Evidence, data, or reference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4AB8D2"/>
                </a:solidFill>
                <a:latin typeface="JetBrains Mono"/>
              </a:rPr>
              <a:t>▍ </a:t>
            </a:r>
            <a:r>
              <a:rPr sz="2200">
                <a:solidFill>
                  <a:srgbClr val="E8E8ED"/>
                </a:solidFill>
                <a:latin typeface="Inter"/>
              </a:rPr>
              <a:t>Takeaway or call to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888A0"/>
                </a:solidFill>
                <a:latin typeface="JetBrains Mono"/>
              </a:rPr>
              <a:t>BSides Aarhus 2026  ·  June 20  ·  INCUBA Next, Aarhus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888A0"/>
                </a:solidFill>
                <a:latin typeface="JetBrains Mono"/>
              </a:rPr>
              <a:t>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617838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463040"/>
            <a:ext cx="3840480" cy="4389120"/>
          </a:xfrm>
          <a:prstGeom prst="roundRect">
            <a:avLst>
              <a:gd name="adj" fmla="val 4000"/>
            </a:avLst>
          </a:prstGeom>
          <a:solidFill>
            <a:srgbClr val="1A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8888A0"/>
                </a:solidFill>
                <a:latin typeface="JetBrains Mono"/>
              </a:rPr>
              <a:t>[ Photo ]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371600"/>
            <a:ext cx="640080" cy="38100"/>
          </a:xfrm>
          <a:prstGeom prst="rect">
            <a:avLst/>
          </a:prstGeom>
          <a:solidFill>
            <a:srgbClr val="4AB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AB8D2"/>
                </a:solidFill>
                <a:latin typeface="JetBrains Mono"/>
              </a:rPr>
              <a:t>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920240"/>
            <a:ext cx="6858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8E8ED"/>
                </a:solidFill>
                <a:latin typeface="Inter"/>
              </a:rPr>
              <a:t>Speaker 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78892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6DD0E7"/>
                </a:solidFill>
                <a:latin typeface="Inter"/>
              </a:rPr>
              <a:t>Role  · 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3474720"/>
            <a:ext cx="68580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8888A0"/>
                </a:solidFill>
                <a:latin typeface="Inter"/>
              </a:rPr>
              <a:t>Short bio. Two or three sentences about background, specialization, and what the audience will take away from the talk. Keep it conversational and specific.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56692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AB8D2"/>
                </a:solidFill>
                <a:latin typeface="JetBrains Mono"/>
              </a:rPr>
              <a:t>@handle  ·  speaker.example.com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888A0"/>
                </a:solidFill>
                <a:latin typeface="JetBrains Mono"/>
              </a:rPr>
              <a:t>BSides Aarhus 2026  ·  June 20  ·  INCUBA Next, Aarhus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888A0"/>
                </a:solidFill>
                <a:latin typeface="JetBrains Mono"/>
              </a:rPr>
              <a:t>Speaker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