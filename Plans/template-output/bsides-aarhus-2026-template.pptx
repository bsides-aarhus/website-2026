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emplate" id="{F3892AFA-D0B0-4259-BAD2-4EE0E6F2F379}">
          <p14:sldIdLst>
            <p14:sldId id="256"/>
            <p14:sldId id="257"/>
            <p14:sldId id="258"/>
            <p14:sldId id="259"/>
            <p14:sldId id="260"/>
            <p14:sldId id="261"/>
          </p14:sldIdLst>
        </p14:section>
        <p14:section name="Track 1" id="{92A063FE-BEEE-4545-930E-75C7279B279B}">
          <p14:sldIdLst>
            <p14:sldId id="262"/>
            <p14:sldId id="263"/>
            <p14:sldId id="264"/>
            <p14:sldId id="265"/>
            <p14:sldId id="266"/>
          </p14:sldIdLst>
        </p14:section>
        <p14:section name="Track 2" id="{FC1A6C1F-C9E6-4F1D-880E-9DD72121416C}">
          <p14:sldIdLst>
            <p14:sldId id="267"/>
            <p14:sldId id="268"/>
            <p14:sldId id="269"/>
            <p14:sldId id="270"/>
            <p14:sldId id="271"/>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 Id="rId8" Type="http://schemas.openxmlformats.org/officeDocument/2006/relationships/image" Target="../media/image9.png"/><Relationship Id="rId9" Type="http://schemas.openxmlformats.org/officeDocument/2006/relationships/image" Target="../media/image10.png"/><Relationship Id="rId10" Type="http://schemas.openxmlformats.org/officeDocument/2006/relationships/image" Target="../media/image11.png"/><Relationship Id="rId11" Type="http://schemas.openxmlformats.org/officeDocument/2006/relationships/image" Target="../media/image12.png"/><Relationship Id="rId12"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4.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5.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6.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7.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8.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9.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0.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1.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2.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3.jp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502920"/>
            <a:ext cx="1235676" cy="914400"/>
          </a:xfrm>
          <a:prstGeom prst="rect">
            <a:avLst/>
          </a:prstGeom>
        </p:spPr>
      </p:pic>
      <p:sp>
        <p:nvSpPr>
          <p:cNvPr id="4" name="TextBox 3"/>
          <p:cNvSpPr txBox="1"/>
          <p:nvPr/>
        </p:nvSpPr>
        <p:spPr>
          <a:xfrm>
            <a:off x="548640" y="2011680"/>
            <a:ext cx="10972800" cy="457200"/>
          </a:xfrm>
          <a:prstGeom prst="rect">
            <a:avLst/>
          </a:prstGeom>
          <a:noFill/>
        </p:spPr>
        <p:txBody>
          <a:bodyPr wrap="square" lIns="0" rIns="0" tIns="0" bIns="0" anchor="t">
            <a:spAutoFit/>
          </a:bodyPr>
          <a:lstStyle/>
          <a:p>
            <a:pPr algn="l"/>
            <a:r>
              <a:rPr sz="1400" b="1">
                <a:solidFill>
                  <a:srgbClr val="4AB8D2"/>
                </a:solidFill>
                <a:latin typeface="JetBrains Mono"/>
              </a:rPr>
              <a:t>SECURITY CONFERENCE  ·  AARHUS</a:t>
            </a:r>
          </a:p>
        </p:txBody>
      </p:sp>
      <p:sp>
        <p:nvSpPr>
          <p:cNvPr id="5" name="TextBox 4"/>
          <p:cNvSpPr txBox="1"/>
          <p:nvPr/>
        </p:nvSpPr>
        <p:spPr>
          <a:xfrm>
            <a:off x="548640" y="2468880"/>
            <a:ext cx="10972800" cy="1463040"/>
          </a:xfrm>
          <a:prstGeom prst="rect">
            <a:avLst/>
          </a:prstGeom>
          <a:noFill/>
        </p:spPr>
        <p:txBody>
          <a:bodyPr wrap="square" lIns="0" rIns="0" tIns="0" bIns="0" anchor="t">
            <a:spAutoFit/>
          </a:bodyPr>
          <a:lstStyle/>
          <a:p>
            <a:pPr algn="l"/>
            <a:r>
              <a:rPr sz="7200" b="1">
                <a:solidFill>
                  <a:srgbClr val="E8E8ED"/>
                </a:solidFill>
                <a:latin typeface="Inter"/>
              </a:rPr>
              <a:t>BSides Aarhus 2026</a:t>
            </a:r>
          </a:p>
        </p:txBody>
      </p:sp>
      <p:sp>
        <p:nvSpPr>
          <p:cNvPr id="6" name="TextBox 5"/>
          <p:cNvSpPr txBox="1"/>
          <p:nvPr/>
        </p:nvSpPr>
        <p:spPr>
          <a:xfrm>
            <a:off x="548640" y="4206240"/>
            <a:ext cx="10972800" cy="548640"/>
          </a:xfrm>
          <a:prstGeom prst="rect">
            <a:avLst/>
          </a:prstGeom>
          <a:noFill/>
        </p:spPr>
        <p:txBody>
          <a:bodyPr wrap="square" lIns="0" rIns="0" tIns="0" bIns="0" anchor="t">
            <a:spAutoFit/>
          </a:bodyPr>
          <a:lstStyle/>
          <a:p>
            <a:pPr algn="l"/>
            <a:r>
              <a:rPr sz="3200" b="0">
                <a:solidFill>
                  <a:srgbClr val="6DD0E7"/>
                </a:solidFill>
                <a:latin typeface="Inter"/>
              </a:rPr>
              <a:t>Talk title goes here</a:t>
            </a:r>
          </a:p>
        </p:txBody>
      </p:sp>
      <p:sp>
        <p:nvSpPr>
          <p:cNvPr id="7" name="TextBox 6"/>
          <p:cNvSpPr txBox="1"/>
          <p:nvPr/>
        </p:nvSpPr>
        <p:spPr>
          <a:xfrm>
            <a:off x="548640" y="4937760"/>
            <a:ext cx="10972800" cy="411480"/>
          </a:xfrm>
          <a:prstGeom prst="rect">
            <a:avLst/>
          </a:prstGeom>
          <a:noFill/>
        </p:spPr>
        <p:txBody>
          <a:bodyPr wrap="square" lIns="0" rIns="0" tIns="0" bIns="0" anchor="t">
            <a:spAutoFit/>
          </a:bodyPr>
          <a:lstStyle/>
          <a:p>
            <a:pPr algn="l"/>
            <a:r>
              <a:rPr sz="2000" b="0">
                <a:solidFill>
                  <a:srgbClr val="8888A0"/>
                </a:solidFill>
                <a:latin typeface="Inter"/>
              </a:rPr>
              <a:t>Speaker Name  ·  Affiliation</a:t>
            </a:r>
          </a:p>
        </p:txBody>
      </p:sp>
      <p:sp>
        <p:nvSpPr>
          <p:cNvPr id="8" name="Rectangle 7"/>
          <p:cNvSpPr/>
          <p:nvPr/>
        </p:nvSpPr>
        <p:spPr>
          <a:xfrm>
            <a:off x="0" y="6217920"/>
            <a:ext cx="12191695"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10972800" cy="365760"/>
          </a:xfrm>
          <a:prstGeom prst="rect">
            <a:avLst/>
          </a:prstGeom>
          <a:noFill/>
        </p:spPr>
        <p:txBody>
          <a:bodyPr wrap="square" lIns="0" rIns="0" tIns="0" bIns="0" anchor="t">
            <a:spAutoFit/>
          </a:bodyPr>
          <a:lstStyle/>
          <a:p>
            <a:pPr algn="l"/>
            <a:r>
              <a:rPr sz="1100" b="0">
                <a:solidFill>
                  <a:srgbClr val="8888A0"/>
                </a:solidFill>
                <a:latin typeface="JetBrains Mono"/>
              </a:rPr>
              <a:t>JUNE 20, 2026  ·  INCUBA NEXT, KATRINEBJERG  ·  BSIDESAARHUS.DK</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320040"/>
            <a:ext cx="889686" cy="658368"/>
          </a:xfrm>
          <a:prstGeom prst="rect">
            <a:avLst/>
          </a:prstGeom>
        </p:spPr>
      </p:pic>
      <p:sp>
        <p:nvSpPr>
          <p:cNvPr id="4" name="Rectangle 3"/>
          <p:cNvSpPr/>
          <p:nvPr/>
        </p:nvSpPr>
        <p:spPr>
          <a:xfrm>
            <a:off x="548640" y="100584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115568"/>
            <a:ext cx="10972800" cy="640080"/>
          </a:xfrm>
          <a:prstGeom prst="rect">
            <a:avLst/>
          </a:prstGeom>
          <a:noFill/>
        </p:spPr>
        <p:txBody>
          <a:bodyPr wrap="square" lIns="0" rIns="0" tIns="0" bIns="0" anchor="t">
            <a:spAutoFit/>
          </a:bodyPr>
          <a:lstStyle/>
          <a:p>
            <a:pPr algn="l"/>
            <a:r>
              <a:rPr sz="3400" b="1">
                <a:solidFill>
                  <a:srgbClr val="E8E8ED"/>
                </a:solidFill>
                <a:latin typeface="Inter"/>
              </a:rPr>
              <a:t>Agenda</a:t>
            </a:r>
          </a:p>
        </p:txBody>
      </p:sp>
      <p:sp>
        <p:nvSpPr>
          <p:cNvPr id="6" name="TextBox 5"/>
          <p:cNvSpPr txBox="1"/>
          <p:nvPr/>
        </p:nvSpPr>
        <p:spPr>
          <a:xfrm>
            <a:off x="548640" y="1737360"/>
            <a:ext cx="10972800" cy="320040"/>
          </a:xfrm>
          <a:prstGeom prst="rect">
            <a:avLst/>
          </a:prstGeom>
          <a:noFill/>
        </p:spPr>
        <p:txBody>
          <a:bodyPr wrap="square" lIns="0" rIns="0" tIns="0" bIns="0" anchor="t">
            <a:spAutoFit/>
          </a:bodyPr>
          <a:lstStyle/>
          <a:p>
            <a:pPr algn="l"/>
            <a:r>
              <a:rPr sz="1100" b="0">
                <a:solidFill>
                  <a:srgbClr val="8888A0"/>
                </a:solidFill>
                <a:latin typeface="JetBrains Mono"/>
              </a:rPr>
              <a:t>JUNE 20, 2026  ·  INCUBA NEXT, KATRINEBJERG</a:t>
            </a:r>
          </a:p>
        </p:txBody>
      </p:sp>
      <p:sp>
        <p:nvSpPr>
          <p:cNvPr id="7" name="Rounded Rectangle 6"/>
          <p:cNvSpPr/>
          <p:nvPr/>
        </p:nvSpPr>
        <p:spPr>
          <a:xfrm>
            <a:off x="10012680" y="429768"/>
            <a:ext cx="1700784" cy="17007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_discord_qr.png"/>
          <p:cNvPicPr>
            <a:picLocks noChangeAspect="1"/>
          </p:cNvPicPr>
          <p:nvPr/>
        </p:nvPicPr>
        <p:blipFill>
          <a:blip r:embed="rId4"/>
          <a:stretch>
            <a:fillRect/>
          </a:stretch>
        </p:blipFill>
        <p:spPr>
          <a:xfrm>
            <a:off x="10085832" y="502920"/>
            <a:ext cx="1554480" cy="1554480"/>
          </a:xfrm>
          <a:prstGeom prst="rect">
            <a:avLst/>
          </a:prstGeom>
        </p:spPr>
      </p:pic>
      <p:sp>
        <p:nvSpPr>
          <p:cNvPr id="9" name="TextBox 8"/>
          <p:cNvSpPr txBox="1"/>
          <p:nvPr/>
        </p:nvSpPr>
        <p:spPr>
          <a:xfrm>
            <a:off x="8119872" y="548640"/>
            <a:ext cx="1645920" cy="274320"/>
          </a:xfrm>
          <a:prstGeom prst="rect">
            <a:avLst/>
          </a:prstGeom>
          <a:noFill/>
        </p:spPr>
        <p:txBody>
          <a:bodyPr wrap="square" lIns="0" rIns="0" tIns="0" bIns="0" anchor="t">
            <a:spAutoFit/>
          </a:bodyPr>
          <a:lstStyle/>
          <a:p>
            <a:pPr algn="r"/>
            <a:r>
              <a:rPr sz="900" b="1">
                <a:solidFill>
                  <a:srgbClr val="4AB8D2"/>
                </a:solidFill>
                <a:latin typeface="JetBrains Mono"/>
              </a:rPr>
              <a:t>JOIN THE CONVERSATION</a:t>
            </a:r>
          </a:p>
        </p:txBody>
      </p:sp>
      <p:sp>
        <p:nvSpPr>
          <p:cNvPr id="10" name="TextBox 9"/>
          <p:cNvSpPr txBox="1"/>
          <p:nvPr/>
        </p:nvSpPr>
        <p:spPr>
          <a:xfrm>
            <a:off x="8119872" y="822960"/>
            <a:ext cx="1645920" cy="822960"/>
          </a:xfrm>
          <a:prstGeom prst="rect">
            <a:avLst/>
          </a:prstGeom>
          <a:noFill/>
        </p:spPr>
        <p:txBody>
          <a:bodyPr wrap="square" lIns="0" rIns="0" tIns="0" bIns="0" anchor="t">
            <a:spAutoFit/>
          </a:bodyPr>
          <a:lstStyle/>
          <a:p>
            <a:pPr algn="r"/>
            <a:r>
              <a:rPr sz="800" b="0">
                <a:solidFill>
                  <a:srgbClr val="8888A0"/>
                </a:solidFill>
                <a:latin typeface="Inter"/>
              </a:rPr>
              <a:t>Scan to open the BSides Aarhus channel — invite link at bsidesaarhus.dk</a:t>
            </a:r>
          </a:p>
        </p:txBody>
      </p:sp>
      <p:sp>
        <p:nvSpPr>
          <p:cNvPr id="11" name="Rounded Rectangle 10"/>
          <p:cNvSpPr/>
          <p:nvPr/>
        </p:nvSpPr>
        <p:spPr>
          <a:xfrm>
            <a:off x="548640" y="2103120"/>
            <a:ext cx="11094415" cy="4407408"/>
          </a:xfrm>
          <a:prstGeom prst="roundRect">
            <a:avLst>
              <a:gd name="adj" fmla="val 2000"/>
            </a:avLst>
          </a:prstGeom>
          <a:solidFill>
            <a:srgbClr val="1A1A25">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645920" y="2148840"/>
            <a:ext cx="4929987" cy="320040"/>
          </a:xfrm>
          <a:prstGeom prst="rect">
            <a:avLst/>
          </a:prstGeom>
          <a:noFill/>
        </p:spPr>
        <p:txBody>
          <a:bodyPr wrap="square" lIns="0" rIns="0" tIns="0" bIns="0" anchor="ctr">
            <a:spAutoFit/>
          </a:bodyPr>
          <a:lstStyle/>
          <a:p>
            <a:pPr algn="ctr"/>
            <a:r>
              <a:rPr sz="1100" b="1">
                <a:solidFill>
                  <a:srgbClr val="4AB8D2"/>
                </a:solidFill>
                <a:latin typeface="JetBrains Mono"/>
              </a:rPr>
              <a:t>TRACK 1  ·  STORE AUD</a:t>
            </a:r>
          </a:p>
        </p:txBody>
      </p:sp>
      <p:sp>
        <p:nvSpPr>
          <p:cNvPr id="13" name="TextBox 12"/>
          <p:cNvSpPr txBox="1"/>
          <p:nvPr/>
        </p:nvSpPr>
        <p:spPr>
          <a:xfrm>
            <a:off x="6713067" y="2148840"/>
            <a:ext cx="4929987" cy="320040"/>
          </a:xfrm>
          <a:prstGeom prst="rect">
            <a:avLst/>
          </a:prstGeom>
          <a:noFill/>
        </p:spPr>
        <p:txBody>
          <a:bodyPr wrap="square" lIns="0" rIns="0" tIns="0" bIns="0" anchor="ctr">
            <a:spAutoFit/>
          </a:bodyPr>
          <a:lstStyle/>
          <a:p>
            <a:pPr algn="ctr"/>
            <a:r>
              <a:rPr sz="1100" b="1">
                <a:solidFill>
                  <a:srgbClr val="4AB8D2"/>
                </a:solidFill>
                <a:latin typeface="JetBrains Mono"/>
              </a:rPr>
              <a:t>TRACK 2  ·  LILLE AUD</a:t>
            </a:r>
          </a:p>
        </p:txBody>
      </p:sp>
      <p:sp>
        <p:nvSpPr>
          <p:cNvPr id="14" name="TextBox 13"/>
          <p:cNvSpPr txBox="1"/>
          <p:nvPr/>
        </p:nvSpPr>
        <p:spPr>
          <a:xfrm>
            <a:off x="548640" y="2542032"/>
            <a:ext cx="960120" cy="438912"/>
          </a:xfrm>
          <a:prstGeom prst="rect">
            <a:avLst/>
          </a:prstGeom>
          <a:noFill/>
        </p:spPr>
        <p:txBody>
          <a:bodyPr wrap="square" lIns="0" rIns="0" tIns="0" bIns="0" anchor="ctr">
            <a:spAutoFit/>
          </a:bodyPr>
          <a:lstStyle/>
          <a:p>
            <a:pPr algn="ctr"/>
            <a:r>
              <a:rPr sz="1400" b="1">
                <a:solidFill>
                  <a:srgbClr val="4AB8D2"/>
                </a:solidFill>
                <a:latin typeface="JetBrains Mono"/>
              </a:rPr>
              <a:t>09:00</a:t>
            </a:r>
          </a:p>
        </p:txBody>
      </p:sp>
      <p:sp>
        <p:nvSpPr>
          <p:cNvPr id="15" name="TextBox 14"/>
          <p:cNvSpPr txBox="1"/>
          <p:nvPr/>
        </p:nvSpPr>
        <p:spPr>
          <a:xfrm>
            <a:off x="1645920" y="2542032"/>
            <a:ext cx="9997135" cy="438912"/>
          </a:xfrm>
          <a:prstGeom prst="rect">
            <a:avLst/>
          </a:prstGeom>
          <a:noFill/>
        </p:spPr>
        <p:txBody>
          <a:bodyPr wrap="square" lIns="0" rIns="0" tIns="0" bIns="0" anchor="ctr">
            <a:spAutoFit/>
          </a:bodyPr>
          <a:lstStyle/>
          <a:p>
            <a:pPr algn="ctr"/>
            <a:r>
              <a:rPr sz="1400" b="0">
                <a:solidFill>
                  <a:srgbClr val="8888A0"/>
                </a:solidFill>
                <a:latin typeface="Inter"/>
              </a:rPr>
              <a:t>Breakfast</a:t>
            </a:r>
          </a:p>
        </p:txBody>
      </p:sp>
      <p:sp>
        <p:nvSpPr>
          <p:cNvPr id="16" name="TextBox 15"/>
          <p:cNvSpPr txBox="1"/>
          <p:nvPr/>
        </p:nvSpPr>
        <p:spPr>
          <a:xfrm>
            <a:off x="548640" y="2980944"/>
            <a:ext cx="960120" cy="438912"/>
          </a:xfrm>
          <a:prstGeom prst="rect">
            <a:avLst/>
          </a:prstGeom>
          <a:noFill/>
        </p:spPr>
        <p:txBody>
          <a:bodyPr wrap="square" lIns="0" rIns="0" tIns="0" bIns="0" anchor="ctr">
            <a:spAutoFit/>
          </a:bodyPr>
          <a:lstStyle/>
          <a:p>
            <a:pPr algn="ctr"/>
            <a:r>
              <a:rPr sz="1400" b="1">
                <a:solidFill>
                  <a:srgbClr val="4AB8D2"/>
                </a:solidFill>
                <a:latin typeface="JetBrains Mono"/>
              </a:rPr>
              <a:t>10:00</a:t>
            </a:r>
          </a:p>
        </p:txBody>
      </p:sp>
      <p:sp>
        <p:nvSpPr>
          <p:cNvPr id="17" name="TextBox 16"/>
          <p:cNvSpPr txBox="1"/>
          <p:nvPr/>
        </p:nvSpPr>
        <p:spPr>
          <a:xfrm>
            <a:off x="1783080" y="2980944"/>
            <a:ext cx="4655667" cy="438912"/>
          </a:xfrm>
          <a:prstGeom prst="rect">
            <a:avLst/>
          </a:prstGeom>
          <a:noFill/>
        </p:spPr>
        <p:txBody>
          <a:bodyPr wrap="square" lIns="0" rIns="0" tIns="25400" bIns="25400" anchor="ctr">
            <a:spAutoFit/>
          </a:bodyPr>
          <a:lstStyle/>
          <a:p>
            <a:pPr algn="l"/>
            <a:r>
              <a:rPr sz="1100" b="1">
                <a:solidFill>
                  <a:srgbClr val="E8E8ED"/>
                </a:solidFill>
                <a:latin typeface="Inter"/>
              </a:rPr>
              <a:t>Malware &amp; Monsters: Contain It Before It Evolves</a:t>
            </a:r>
          </a:p>
          <a:p>
            <a:pPr algn="l"/>
            <a:r>
              <a:rPr sz="900">
                <a:solidFill>
                  <a:srgbClr val="8888A0"/>
                </a:solidFill>
                <a:latin typeface="JetBrains Mono"/>
              </a:rPr>
              <a:t>Klaus Agnoletti</a:t>
            </a:r>
          </a:p>
        </p:txBody>
      </p:sp>
      <p:sp>
        <p:nvSpPr>
          <p:cNvPr id="18" name="TextBox 17"/>
          <p:cNvSpPr txBox="1"/>
          <p:nvPr/>
        </p:nvSpPr>
        <p:spPr>
          <a:xfrm>
            <a:off x="6850227" y="2980944"/>
            <a:ext cx="4655667" cy="438912"/>
          </a:xfrm>
          <a:prstGeom prst="rect">
            <a:avLst/>
          </a:prstGeom>
          <a:noFill/>
        </p:spPr>
        <p:txBody>
          <a:bodyPr wrap="square" lIns="0" rIns="0" tIns="25400" bIns="25400" anchor="ctr">
            <a:spAutoFit/>
          </a:bodyPr>
          <a:lstStyle/>
          <a:p>
            <a:pPr algn="l"/>
            <a:r>
              <a:rPr sz="1100" b="1">
                <a:solidFill>
                  <a:srgbClr val="E8E8ED"/>
                </a:solidFill>
                <a:latin typeface="Inter"/>
              </a:rPr>
              <a:t>WebAuthn: How to get rid of passwords.</a:t>
            </a:r>
          </a:p>
          <a:p>
            <a:pPr algn="l"/>
            <a:r>
              <a:rPr sz="900">
                <a:solidFill>
                  <a:srgbClr val="8888A0"/>
                </a:solidFill>
                <a:latin typeface="JetBrains Mono"/>
              </a:rPr>
              <a:t>Joost van Dijk</a:t>
            </a:r>
          </a:p>
        </p:txBody>
      </p:sp>
      <p:sp>
        <p:nvSpPr>
          <p:cNvPr id="19" name="TextBox 18"/>
          <p:cNvSpPr txBox="1"/>
          <p:nvPr/>
        </p:nvSpPr>
        <p:spPr>
          <a:xfrm>
            <a:off x="548640" y="3419856"/>
            <a:ext cx="960120" cy="438912"/>
          </a:xfrm>
          <a:prstGeom prst="rect">
            <a:avLst/>
          </a:prstGeom>
          <a:noFill/>
        </p:spPr>
        <p:txBody>
          <a:bodyPr wrap="square" lIns="0" rIns="0" tIns="0" bIns="0" anchor="ctr">
            <a:spAutoFit/>
          </a:bodyPr>
          <a:lstStyle/>
          <a:p>
            <a:pPr algn="ctr"/>
            <a:r>
              <a:rPr sz="1400" b="1">
                <a:solidFill>
                  <a:srgbClr val="4AB8D2"/>
                </a:solidFill>
                <a:latin typeface="JetBrains Mono"/>
              </a:rPr>
              <a:t>11:00</a:t>
            </a:r>
          </a:p>
        </p:txBody>
      </p:sp>
      <p:sp>
        <p:nvSpPr>
          <p:cNvPr id="20" name="TextBox 19"/>
          <p:cNvSpPr txBox="1"/>
          <p:nvPr/>
        </p:nvSpPr>
        <p:spPr>
          <a:xfrm>
            <a:off x="1783080" y="3419856"/>
            <a:ext cx="4655667" cy="438912"/>
          </a:xfrm>
          <a:prstGeom prst="rect">
            <a:avLst/>
          </a:prstGeom>
          <a:noFill/>
        </p:spPr>
        <p:txBody>
          <a:bodyPr wrap="square" lIns="0" rIns="0" tIns="25400" bIns="25400" anchor="ctr">
            <a:spAutoFit/>
          </a:bodyPr>
          <a:lstStyle/>
          <a:p>
            <a:pPr algn="l"/>
            <a:r>
              <a:rPr sz="1100" b="1">
                <a:solidFill>
                  <a:srgbClr val="E8E8ED"/>
                </a:solidFill>
                <a:latin typeface="Inter"/>
              </a:rPr>
              <a:t>Alert Fatigue Therapy: Fixing Broken Detection Rules</a:t>
            </a:r>
          </a:p>
          <a:p>
            <a:pPr algn="l"/>
            <a:r>
              <a:rPr sz="900">
                <a:solidFill>
                  <a:srgbClr val="8888A0"/>
                </a:solidFill>
                <a:latin typeface="JetBrains Mono"/>
              </a:rPr>
              <a:t>Marvin Ngoma</a:t>
            </a:r>
          </a:p>
        </p:txBody>
      </p:sp>
      <p:sp>
        <p:nvSpPr>
          <p:cNvPr id="21" name="TextBox 20"/>
          <p:cNvSpPr txBox="1"/>
          <p:nvPr/>
        </p:nvSpPr>
        <p:spPr>
          <a:xfrm>
            <a:off x="6850227" y="3419856"/>
            <a:ext cx="4655667" cy="438912"/>
          </a:xfrm>
          <a:prstGeom prst="rect">
            <a:avLst/>
          </a:prstGeom>
          <a:noFill/>
        </p:spPr>
        <p:txBody>
          <a:bodyPr wrap="square" lIns="0" rIns="0" tIns="25400" bIns="25400" anchor="ctr">
            <a:spAutoFit/>
          </a:bodyPr>
          <a:lstStyle/>
          <a:p>
            <a:pPr algn="l"/>
            <a:r>
              <a:rPr sz="1100" b="1">
                <a:solidFill>
                  <a:srgbClr val="E8E8ED"/>
                </a:solidFill>
                <a:latin typeface="Inter"/>
              </a:rPr>
              <a:t>Remote Cold Execution</a:t>
            </a:r>
          </a:p>
          <a:p>
            <a:pPr algn="l"/>
            <a:r>
              <a:rPr sz="900">
                <a:solidFill>
                  <a:srgbClr val="8888A0"/>
                </a:solidFill>
                <a:latin typeface="JetBrains Mono"/>
              </a:rPr>
              <a:t>Tom Kern</a:t>
            </a:r>
          </a:p>
        </p:txBody>
      </p:sp>
      <p:sp>
        <p:nvSpPr>
          <p:cNvPr id="22" name="TextBox 21"/>
          <p:cNvSpPr txBox="1"/>
          <p:nvPr/>
        </p:nvSpPr>
        <p:spPr>
          <a:xfrm>
            <a:off x="548640" y="3858768"/>
            <a:ext cx="960120" cy="438912"/>
          </a:xfrm>
          <a:prstGeom prst="rect">
            <a:avLst/>
          </a:prstGeom>
          <a:noFill/>
        </p:spPr>
        <p:txBody>
          <a:bodyPr wrap="square" lIns="0" rIns="0" tIns="0" bIns="0" anchor="ctr">
            <a:spAutoFit/>
          </a:bodyPr>
          <a:lstStyle/>
          <a:p>
            <a:pPr algn="ctr"/>
            <a:r>
              <a:rPr sz="1400" b="1">
                <a:solidFill>
                  <a:srgbClr val="4AB8D2"/>
                </a:solidFill>
                <a:latin typeface="JetBrains Mono"/>
              </a:rPr>
              <a:t>11:45</a:t>
            </a:r>
          </a:p>
        </p:txBody>
      </p:sp>
      <p:sp>
        <p:nvSpPr>
          <p:cNvPr id="23" name="TextBox 22"/>
          <p:cNvSpPr txBox="1"/>
          <p:nvPr/>
        </p:nvSpPr>
        <p:spPr>
          <a:xfrm>
            <a:off x="1645920" y="3858768"/>
            <a:ext cx="9997135" cy="438912"/>
          </a:xfrm>
          <a:prstGeom prst="rect">
            <a:avLst/>
          </a:prstGeom>
          <a:noFill/>
        </p:spPr>
        <p:txBody>
          <a:bodyPr wrap="square" lIns="0" rIns="0" tIns="0" bIns="0" anchor="ctr">
            <a:spAutoFit/>
          </a:bodyPr>
          <a:lstStyle/>
          <a:p>
            <a:pPr algn="ctr"/>
            <a:r>
              <a:rPr sz="1400" b="0">
                <a:solidFill>
                  <a:srgbClr val="8888A0"/>
                </a:solidFill>
                <a:latin typeface="Inter"/>
              </a:rPr>
              <a:t>Lunch</a:t>
            </a:r>
          </a:p>
        </p:txBody>
      </p:sp>
      <p:sp>
        <p:nvSpPr>
          <p:cNvPr id="24" name="TextBox 23"/>
          <p:cNvSpPr txBox="1"/>
          <p:nvPr/>
        </p:nvSpPr>
        <p:spPr>
          <a:xfrm>
            <a:off x="548640" y="4297680"/>
            <a:ext cx="960120" cy="438912"/>
          </a:xfrm>
          <a:prstGeom prst="rect">
            <a:avLst/>
          </a:prstGeom>
          <a:noFill/>
        </p:spPr>
        <p:txBody>
          <a:bodyPr wrap="square" lIns="0" rIns="0" tIns="0" bIns="0" anchor="ctr">
            <a:spAutoFit/>
          </a:bodyPr>
          <a:lstStyle/>
          <a:p>
            <a:pPr algn="ctr"/>
            <a:r>
              <a:rPr sz="1400" b="1">
                <a:solidFill>
                  <a:srgbClr val="4AB8D2"/>
                </a:solidFill>
                <a:latin typeface="JetBrains Mono"/>
              </a:rPr>
              <a:t>12:45</a:t>
            </a:r>
          </a:p>
        </p:txBody>
      </p:sp>
      <p:sp>
        <p:nvSpPr>
          <p:cNvPr id="25" name="TextBox 24"/>
          <p:cNvSpPr txBox="1"/>
          <p:nvPr/>
        </p:nvSpPr>
        <p:spPr>
          <a:xfrm>
            <a:off x="1783080" y="4297680"/>
            <a:ext cx="4655667" cy="438912"/>
          </a:xfrm>
          <a:prstGeom prst="rect">
            <a:avLst/>
          </a:prstGeom>
          <a:noFill/>
        </p:spPr>
        <p:txBody>
          <a:bodyPr wrap="square" lIns="0" rIns="0" tIns="25400" bIns="25400" anchor="ctr">
            <a:spAutoFit/>
          </a:bodyPr>
          <a:lstStyle/>
          <a:p>
            <a:pPr algn="l"/>
            <a:r>
              <a:rPr sz="1100" b="1">
                <a:solidFill>
                  <a:srgbClr val="E8E8ED"/>
                </a:solidFill>
                <a:latin typeface="Inter"/>
              </a:rPr>
              <a:t>We Scanned 10,000 Danish Orgs Without Sending a Single Packet</a:t>
            </a:r>
          </a:p>
          <a:p>
            <a:pPr algn="l"/>
            <a:r>
              <a:rPr sz="900">
                <a:solidFill>
                  <a:srgbClr val="8888A0"/>
                </a:solidFill>
                <a:latin typeface="JetBrains Mono"/>
              </a:rPr>
              <a:t>Morten von Seelen</a:t>
            </a:r>
          </a:p>
        </p:txBody>
      </p:sp>
      <p:sp>
        <p:nvSpPr>
          <p:cNvPr id="26" name="TextBox 25"/>
          <p:cNvSpPr txBox="1"/>
          <p:nvPr/>
        </p:nvSpPr>
        <p:spPr>
          <a:xfrm>
            <a:off x="6850227" y="4297680"/>
            <a:ext cx="4655667" cy="438912"/>
          </a:xfrm>
          <a:prstGeom prst="rect">
            <a:avLst/>
          </a:prstGeom>
          <a:noFill/>
        </p:spPr>
        <p:txBody>
          <a:bodyPr wrap="square" lIns="0" rIns="0" tIns="25400" bIns="25400" anchor="ctr">
            <a:spAutoFit/>
          </a:bodyPr>
          <a:lstStyle/>
          <a:p>
            <a:pPr algn="l"/>
            <a:r>
              <a:rPr sz="1100" b="1">
                <a:solidFill>
                  <a:srgbClr val="E8E8ED"/>
                </a:solidFill>
                <a:latin typeface="Inter"/>
              </a:rPr>
              <a:t>Trustless Consensus Manipulation Through Bribing Contracts</a:t>
            </a:r>
          </a:p>
          <a:p>
            <a:pPr algn="l"/>
            <a:r>
              <a:rPr sz="900">
                <a:solidFill>
                  <a:srgbClr val="8888A0"/>
                </a:solidFill>
                <a:latin typeface="JetBrains Mono"/>
              </a:rPr>
              <a:t>Bence Soóki-Tóth</a:t>
            </a:r>
          </a:p>
        </p:txBody>
      </p:sp>
      <p:sp>
        <p:nvSpPr>
          <p:cNvPr id="27" name="TextBox 26"/>
          <p:cNvSpPr txBox="1"/>
          <p:nvPr/>
        </p:nvSpPr>
        <p:spPr>
          <a:xfrm>
            <a:off x="548640" y="4736592"/>
            <a:ext cx="960120" cy="438912"/>
          </a:xfrm>
          <a:prstGeom prst="rect">
            <a:avLst/>
          </a:prstGeom>
          <a:noFill/>
        </p:spPr>
        <p:txBody>
          <a:bodyPr wrap="square" lIns="0" rIns="0" tIns="0" bIns="0" anchor="ctr">
            <a:spAutoFit/>
          </a:bodyPr>
          <a:lstStyle/>
          <a:p>
            <a:pPr algn="ctr"/>
            <a:r>
              <a:rPr sz="1400" b="1">
                <a:solidFill>
                  <a:srgbClr val="4AB8D2"/>
                </a:solidFill>
                <a:latin typeface="JetBrains Mono"/>
              </a:rPr>
              <a:t>13:50</a:t>
            </a:r>
          </a:p>
        </p:txBody>
      </p:sp>
      <p:sp>
        <p:nvSpPr>
          <p:cNvPr id="28" name="TextBox 27"/>
          <p:cNvSpPr txBox="1"/>
          <p:nvPr/>
        </p:nvSpPr>
        <p:spPr>
          <a:xfrm>
            <a:off x="1783080" y="4736592"/>
            <a:ext cx="4655667" cy="438912"/>
          </a:xfrm>
          <a:prstGeom prst="rect">
            <a:avLst/>
          </a:prstGeom>
          <a:noFill/>
        </p:spPr>
        <p:txBody>
          <a:bodyPr wrap="square" lIns="0" rIns="0" tIns="25400" bIns="25400" anchor="ctr">
            <a:spAutoFit/>
          </a:bodyPr>
          <a:lstStyle/>
          <a:p>
            <a:pPr algn="l"/>
            <a:r>
              <a:rPr sz="1100" b="1">
                <a:solidFill>
                  <a:srgbClr val="E8E8ED"/>
                </a:solidFill>
                <a:latin typeface="Inter"/>
              </a:rPr>
              <a:t>RTFM - Read The Fatal Manual: When Documentation Creates Critical Misconfiguration</a:t>
            </a:r>
          </a:p>
          <a:p>
            <a:pPr algn="l"/>
            <a:r>
              <a:rPr sz="900">
                <a:solidFill>
                  <a:srgbClr val="8888A0"/>
                </a:solidFill>
                <a:latin typeface="JetBrains Mono"/>
              </a:rPr>
              <a:t>Martin Sohn Christensen</a:t>
            </a:r>
          </a:p>
        </p:txBody>
      </p:sp>
      <p:sp>
        <p:nvSpPr>
          <p:cNvPr id="29" name="TextBox 28"/>
          <p:cNvSpPr txBox="1"/>
          <p:nvPr/>
        </p:nvSpPr>
        <p:spPr>
          <a:xfrm>
            <a:off x="6850227" y="4736592"/>
            <a:ext cx="4655667" cy="438912"/>
          </a:xfrm>
          <a:prstGeom prst="rect">
            <a:avLst/>
          </a:prstGeom>
          <a:noFill/>
        </p:spPr>
        <p:txBody>
          <a:bodyPr wrap="square" lIns="0" rIns="0" tIns="25400" bIns="25400" anchor="ctr">
            <a:spAutoFit/>
          </a:bodyPr>
          <a:lstStyle/>
          <a:p>
            <a:pPr algn="l"/>
            <a:r>
              <a:rPr sz="1100" b="1">
                <a:solidFill>
                  <a:srgbClr val="E8E8ED"/>
                </a:solidFill>
                <a:latin typeface="Inter"/>
              </a:rPr>
              <a:t>An introduction to Post-Quantum Cryptography for the practitioner</a:t>
            </a:r>
          </a:p>
          <a:p>
            <a:pPr algn="l"/>
            <a:r>
              <a:rPr sz="900">
                <a:solidFill>
                  <a:srgbClr val="8888A0"/>
                </a:solidFill>
                <a:latin typeface="JetBrains Mono"/>
              </a:rPr>
              <a:t>Kasper Hald</a:t>
            </a:r>
          </a:p>
        </p:txBody>
      </p:sp>
      <p:sp>
        <p:nvSpPr>
          <p:cNvPr id="30" name="TextBox 29"/>
          <p:cNvSpPr txBox="1"/>
          <p:nvPr/>
        </p:nvSpPr>
        <p:spPr>
          <a:xfrm>
            <a:off x="548640" y="5175504"/>
            <a:ext cx="960120" cy="438912"/>
          </a:xfrm>
          <a:prstGeom prst="rect">
            <a:avLst/>
          </a:prstGeom>
          <a:noFill/>
        </p:spPr>
        <p:txBody>
          <a:bodyPr wrap="square" lIns="0" rIns="0" tIns="0" bIns="0" anchor="ctr">
            <a:spAutoFit/>
          </a:bodyPr>
          <a:lstStyle/>
          <a:p>
            <a:pPr algn="ctr"/>
            <a:r>
              <a:rPr sz="1400" b="1">
                <a:solidFill>
                  <a:srgbClr val="4AB8D2"/>
                </a:solidFill>
                <a:latin typeface="JetBrains Mono"/>
              </a:rPr>
              <a:t>14:50</a:t>
            </a:r>
          </a:p>
        </p:txBody>
      </p:sp>
      <p:sp>
        <p:nvSpPr>
          <p:cNvPr id="31" name="TextBox 30"/>
          <p:cNvSpPr txBox="1"/>
          <p:nvPr/>
        </p:nvSpPr>
        <p:spPr>
          <a:xfrm>
            <a:off x="1783080" y="5175504"/>
            <a:ext cx="4655667" cy="438912"/>
          </a:xfrm>
          <a:prstGeom prst="rect">
            <a:avLst/>
          </a:prstGeom>
          <a:noFill/>
        </p:spPr>
        <p:txBody>
          <a:bodyPr wrap="square" lIns="0" rIns="0" tIns="25400" bIns="25400" anchor="ctr">
            <a:spAutoFit/>
          </a:bodyPr>
          <a:lstStyle/>
          <a:p>
            <a:pPr algn="l"/>
            <a:r>
              <a:rPr sz="1100" b="1">
                <a:solidFill>
                  <a:srgbClr val="E8E8ED"/>
                </a:solidFill>
                <a:latin typeface="Inter"/>
              </a:rPr>
              <a:t>Side Quest: "Whodunit?" – Unintentional System Compromise</a:t>
            </a:r>
          </a:p>
          <a:p>
            <a:pPr algn="l"/>
            <a:r>
              <a:rPr sz="900">
                <a:solidFill>
                  <a:srgbClr val="8888A0"/>
                </a:solidFill>
                <a:latin typeface="JetBrains Mono"/>
              </a:rPr>
              <a:t>Mikkel Ole Rømer</a:t>
            </a:r>
          </a:p>
        </p:txBody>
      </p:sp>
      <p:sp>
        <p:nvSpPr>
          <p:cNvPr id="32" name="TextBox 31"/>
          <p:cNvSpPr txBox="1"/>
          <p:nvPr/>
        </p:nvSpPr>
        <p:spPr>
          <a:xfrm>
            <a:off x="6850227" y="5175504"/>
            <a:ext cx="4655667" cy="438912"/>
          </a:xfrm>
          <a:prstGeom prst="rect">
            <a:avLst/>
          </a:prstGeom>
          <a:noFill/>
        </p:spPr>
        <p:txBody>
          <a:bodyPr wrap="square" lIns="0" rIns="0" tIns="25400" bIns="25400" anchor="ctr">
            <a:spAutoFit/>
          </a:bodyPr>
          <a:lstStyle/>
          <a:p>
            <a:pPr algn="l"/>
            <a:r>
              <a:rPr sz="1100" b="1">
                <a:solidFill>
                  <a:srgbClr val="E8E8ED"/>
                </a:solidFill>
                <a:latin typeface="Inter"/>
              </a:rPr>
              <a:t>Build your own IDS</a:t>
            </a:r>
          </a:p>
          <a:p>
            <a:pPr algn="l"/>
            <a:r>
              <a:rPr sz="900">
                <a:solidFill>
                  <a:srgbClr val="8888A0"/>
                </a:solidFill>
                <a:latin typeface="JetBrains Mono"/>
              </a:rPr>
              <a:t>Eleni Ioakeim</a:t>
            </a:r>
          </a:p>
        </p:txBody>
      </p:sp>
      <p:sp>
        <p:nvSpPr>
          <p:cNvPr id="33" name="TextBox 32"/>
          <p:cNvSpPr txBox="1"/>
          <p:nvPr/>
        </p:nvSpPr>
        <p:spPr>
          <a:xfrm>
            <a:off x="548640" y="5614416"/>
            <a:ext cx="960120" cy="438912"/>
          </a:xfrm>
          <a:prstGeom prst="rect">
            <a:avLst/>
          </a:prstGeom>
          <a:noFill/>
        </p:spPr>
        <p:txBody>
          <a:bodyPr wrap="square" lIns="0" rIns="0" tIns="0" bIns="0" anchor="ctr">
            <a:spAutoFit/>
          </a:bodyPr>
          <a:lstStyle/>
          <a:p>
            <a:pPr algn="ctr"/>
            <a:r>
              <a:rPr sz="1400" b="1">
                <a:solidFill>
                  <a:srgbClr val="4AB8D2"/>
                </a:solidFill>
                <a:latin typeface="JetBrains Mono"/>
              </a:rPr>
              <a:t>15:30</a:t>
            </a:r>
          </a:p>
        </p:txBody>
      </p:sp>
      <p:sp>
        <p:nvSpPr>
          <p:cNvPr id="34" name="TextBox 33"/>
          <p:cNvSpPr txBox="1"/>
          <p:nvPr/>
        </p:nvSpPr>
        <p:spPr>
          <a:xfrm>
            <a:off x="1645920" y="5614416"/>
            <a:ext cx="9997135" cy="438912"/>
          </a:xfrm>
          <a:prstGeom prst="rect">
            <a:avLst/>
          </a:prstGeom>
          <a:noFill/>
        </p:spPr>
        <p:txBody>
          <a:bodyPr wrap="square" lIns="0" rIns="0" tIns="0" bIns="0" anchor="ctr">
            <a:spAutoFit/>
          </a:bodyPr>
          <a:lstStyle/>
          <a:p>
            <a:pPr algn="ctr"/>
            <a:r>
              <a:rPr sz="1400" b="0">
                <a:solidFill>
                  <a:srgbClr val="8888A0"/>
                </a:solidFill>
                <a:latin typeface="Inter"/>
              </a:rPr>
              <a:t>Networking session</a:t>
            </a:r>
          </a:p>
        </p:txBody>
      </p:sp>
      <p:sp>
        <p:nvSpPr>
          <p:cNvPr id="35" name="TextBox 34"/>
          <p:cNvSpPr txBox="1"/>
          <p:nvPr/>
        </p:nvSpPr>
        <p:spPr>
          <a:xfrm>
            <a:off x="548640" y="6053328"/>
            <a:ext cx="960120" cy="438912"/>
          </a:xfrm>
          <a:prstGeom prst="rect">
            <a:avLst/>
          </a:prstGeom>
          <a:noFill/>
        </p:spPr>
        <p:txBody>
          <a:bodyPr wrap="square" lIns="0" rIns="0" tIns="0" bIns="0" anchor="ctr">
            <a:spAutoFit/>
          </a:bodyPr>
          <a:lstStyle/>
          <a:p>
            <a:pPr algn="ctr"/>
            <a:r>
              <a:rPr sz="1400" b="1">
                <a:solidFill>
                  <a:srgbClr val="4AB8D2"/>
                </a:solidFill>
                <a:latin typeface="JetBrains Mono"/>
              </a:rPr>
              <a:t>16:30</a:t>
            </a:r>
          </a:p>
        </p:txBody>
      </p:sp>
      <p:sp>
        <p:nvSpPr>
          <p:cNvPr id="36" name="TextBox 35"/>
          <p:cNvSpPr txBox="1"/>
          <p:nvPr/>
        </p:nvSpPr>
        <p:spPr>
          <a:xfrm>
            <a:off x="1645920" y="6053328"/>
            <a:ext cx="9997135" cy="438912"/>
          </a:xfrm>
          <a:prstGeom prst="rect">
            <a:avLst/>
          </a:prstGeom>
          <a:noFill/>
        </p:spPr>
        <p:txBody>
          <a:bodyPr wrap="square" lIns="0" rIns="0" tIns="0" bIns="0" anchor="ctr">
            <a:spAutoFit/>
          </a:bodyPr>
          <a:lstStyle/>
          <a:p>
            <a:pPr algn="ctr"/>
            <a:r>
              <a:rPr sz="1400" b="0">
                <a:solidFill>
                  <a:srgbClr val="8888A0"/>
                </a:solidFill>
                <a:latin typeface="Inter"/>
              </a:rPr>
              <a:t>Continue at Fredagscaféen</a:t>
            </a:r>
          </a:p>
        </p:txBody>
      </p:sp>
      <p:sp>
        <p:nvSpPr>
          <p:cNvPr id="37" name="TextBox 36"/>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38" name="TextBox 37"/>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Agenda</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_elev.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548640" y="2011680"/>
            <a:ext cx="109728" cy="27432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920240"/>
            <a:ext cx="10058400" cy="548640"/>
          </a:xfrm>
          <a:prstGeom prst="rect">
            <a:avLst/>
          </a:prstGeom>
          <a:noFill/>
        </p:spPr>
        <p:txBody>
          <a:bodyPr wrap="square" lIns="0" rIns="0" tIns="0" bIns="0" anchor="t">
            <a:spAutoFit/>
          </a:bodyPr>
          <a:lstStyle/>
          <a:p>
            <a:pPr algn="l"/>
            <a:r>
              <a:rPr sz="1600" b="1">
                <a:solidFill>
                  <a:srgbClr val="4AB8D2"/>
                </a:solidFill>
                <a:latin typeface="JetBrains Mono"/>
              </a:rPr>
              <a:t>SECTION</a:t>
            </a:r>
          </a:p>
        </p:txBody>
      </p:sp>
      <p:sp>
        <p:nvSpPr>
          <p:cNvPr id="5" name="TextBox 4"/>
          <p:cNvSpPr txBox="1"/>
          <p:nvPr/>
        </p:nvSpPr>
        <p:spPr>
          <a:xfrm>
            <a:off x="914400" y="2468880"/>
            <a:ext cx="10515600" cy="1828800"/>
          </a:xfrm>
          <a:prstGeom prst="rect">
            <a:avLst/>
          </a:prstGeom>
          <a:noFill/>
        </p:spPr>
        <p:txBody>
          <a:bodyPr wrap="square" lIns="0" rIns="0" tIns="0" bIns="0" anchor="t">
            <a:spAutoFit/>
          </a:bodyPr>
          <a:lstStyle/>
          <a:p>
            <a:pPr algn="l"/>
            <a:r>
              <a:rPr sz="6000" b="1">
                <a:solidFill>
                  <a:srgbClr val="E8E8ED"/>
                </a:solidFill>
                <a:latin typeface="Inter"/>
              </a:rPr>
              <a:t>Section title goes here</a:t>
            </a:r>
          </a:p>
        </p:txBody>
      </p:sp>
      <p:sp>
        <p:nvSpPr>
          <p:cNvPr id="6" name="TextBox 5"/>
          <p:cNvSpPr txBox="1"/>
          <p:nvPr/>
        </p:nvSpPr>
        <p:spPr>
          <a:xfrm>
            <a:off x="914400" y="4206240"/>
            <a:ext cx="10515600" cy="548640"/>
          </a:xfrm>
          <a:prstGeom prst="rect">
            <a:avLst/>
          </a:prstGeom>
          <a:noFill/>
        </p:spPr>
        <p:txBody>
          <a:bodyPr wrap="square" lIns="0" rIns="0" tIns="0" bIns="0" anchor="t">
            <a:spAutoFit/>
          </a:bodyPr>
          <a:lstStyle/>
          <a:p>
            <a:pPr algn="l"/>
            <a:r>
              <a:rPr sz="2200" b="0">
                <a:solidFill>
                  <a:srgbClr val="8888A0"/>
                </a:solidFill>
                <a:latin typeface="Inter"/>
              </a:rPr>
              <a:t>Optional one-line description for this section.</a:t>
            </a:r>
          </a:p>
        </p:txBody>
      </p:sp>
      <p:sp>
        <p:nvSpPr>
          <p:cNvPr id="7" name="TextBox 6"/>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889686" cy="658368"/>
          </a:xfrm>
          <a:prstGeom prst="rect">
            <a:avLst/>
          </a:prstGeom>
        </p:spPr>
      </p:pic>
      <p:sp>
        <p:nvSpPr>
          <p:cNvPr id="4" name="Rectangle 3"/>
          <p:cNvSpPr/>
          <p:nvPr/>
        </p:nvSpPr>
        <p:spPr>
          <a:xfrm>
            <a:off x="548640" y="118872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25880"/>
            <a:ext cx="10972800" cy="731520"/>
          </a:xfrm>
          <a:prstGeom prst="rect">
            <a:avLst/>
          </a:prstGeom>
          <a:noFill/>
        </p:spPr>
        <p:txBody>
          <a:bodyPr wrap="square" lIns="0" rIns="0" tIns="0" bIns="0" anchor="t">
            <a:spAutoFit/>
          </a:bodyPr>
          <a:lstStyle/>
          <a:p>
            <a:pPr algn="l"/>
            <a:r>
              <a:rPr sz="3600" b="1">
                <a:solidFill>
                  <a:srgbClr val="E8E8ED"/>
                </a:solidFill>
                <a:latin typeface="Inter"/>
              </a:rPr>
              <a:t>Slide title</a:t>
            </a:r>
          </a:p>
        </p:txBody>
      </p:sp>
      <p:sp>
        <p:nvSpPr>
          <p:cNvPr id="6" name="TextBox 5"/>
          <p:cNvSpPr txBox="1"/>
          <p:nvPr/>
        </p:nvSpPr>
        <p:spPr>
          <a:xfrm>
            <a:off x="548640" y="2286000"/>
            <a:ext cx="11064240" cy="3840480"/>
          </a:xfrm>
          <a:prstGeom prst="rect">
            <a:avLst/>
          </a:prstGeom>
          <a:noFill/>
        </p:spPr>
        <p:txBody>
          <a:bodyPr wrap="square">
            <a:spAutoFit/>
          </a:bodyPr>
          <a:lstStyle/>
          <a:p>
            <a:pPr algn="l">
              <a:spcAft>
                <a:spcPts val="1000"/>
              </a:spcAft>
            </a:pPr>
            <a:r>
              <a:rPr sz="2000">
                <a:solidFill>
                  <a:srgbClr val="4AB8D2"/>
                </a:solidFill>
                <a:latin typeface="JetBrains Mono"/>
              </a:rPr>
              <a:t>▍ </a:t>
            </a:r>
            <a:r>
              <a:rPr sz="2200">
                <a:solidFill>
                  <a:srgbClr val="E8E8ED"/>
                </a:solidFill>
                <a:latin typeface="Inter"/>
              </a:rPr>
              <a:t>Primary point — short, declarative, one idea per line</a:t>
            </a:r>
          </a:p>
          <a:p>
            <a:pPr algn="l">
              <a:spcAft>
                <a:spcPts val="1000"/>
              </a:spcAft>
            </a:pPr>
            <a:r>
              <a:rPr sz="2000">
                <a:solidFill>
                  <a:srgbClr val="4AB8D2"/>
                </a:solidFill>
                <a:latin typeface="JetBrains Mono"/>
              </a:rPr>
              <a:t>▍ </a:t>
            </a:r>
            <a:r>
              <a:rPr sz="2200">
                <a:solidFill>
                  <a:srgbClr val="E8E8ED"/>
                </a:solidFill>
                <a:latin typeface="Inter"/>
              </a:rPr>
              <a:t>Supporting detail with concrete example</a:t>
            </a:r>
          </a:p>
          <a:p>
            <a:pPr algn="l">
              <a:spcAft>
                <a:spcPts val="1000"/>
              </a:spcAft>
            </a:pPr>
            <a:r>
              <a:rPr sz="2000">
                <a:solidFill>
                  <a:srgbClr val="4AB8D2"/>
                </a:solidFill>
                <a:latin typeface="JetBrains Mono"/>
              </a:rPr>
              <a:t>▍ </a:t>
            </a:r>
            <a:r>
              <a:rPr sz="2200">
                <a:solidFill>
                  <a:srgbClr val="E8E8ED"/>
                </a:solidFill>
                <a:latin typeface="Inter"/>
              </a:rPr>
              <a:t>Evidence, data, or reference</a:t>
            </a:r>
          </a:p>
          <a:p>
            <a:pPr algn="l">
              <a:spcAft>
                <a:spcPts val="1000"/>
              </a:spcAft>
            </a:pPr>
            <a:r>
              <a:rPr sz="2000">
                <a:solidFill>
                  <a:srgbClr val="4AB8D2"/>
                </a:solidFill>
                <a:latin typeface="JetBrains Mono"/>
              </a:rPr>
              <a:t>▍ </a:t>
            </a:r>
            <a:r>
              <a:rPr sz="2200">
                <a:solidFill>
                  <a:srgbClr val="E8E8ED"/>
                </a:solidFill>
                <a:latin typeface="Inter"/>
              </a:rPr>
              <a:t>Takeaway or call to action</a:t>
            </a:r>
          </a:p>
        </p:txBody>
      </p:sp>
      <p:sp>
        <p:nvSpPr>
          <p:cNvPr id="7" name="TextBox 6"/>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8" name="TextBox 7"/>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Content</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889686" cy="658368"/>
          </a:xfrm>
          <a:prstGeom prst="rect">
            <a:avLst/>
          </a:prstGeom>
        </p:spPr>
      </p:pic>
      <p:sp>
        <p:nvSpPr>
          <p:cNvPr id="4" name="Rounded Rectangle 3"/>
          <p:cNvSpPr/>
          <p:nvPr/>
        </p:nvSpPr>
        <p:spPr>
          <a:xfrm>
            <a:off x="548640" y="1463040"/>
            <a:ext cx="3840480" cy="4389120"/>
          </a:xfrm>
          <a:prstGeom prst="roundRect">
            <a:avLst>
              <a:gd name="adj" fmla="val 4000"/>
            </a:avLst>
          </a:prstGeom>
          <a:solidFill>
            <a:srgbClr val="1A1A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383280"/>
            <a:ext cx="3840480" cy="548640"/>
          </a:xfrm>
          <a:prstGeom prst="rect">
            <a:avLst/>
          </a:prstGeom>
          <a:noFill/>
        </p:spPr>
        <p:txBody>
          <a:bodyPr wrap="square" lIns="0" rIns="0" tIns="0" bIns="0" anchor="t">
            <a:spAutoFit/>
          </a:bodyPr>
          <a:lstStyle/>
          <a:p>
            <a:pPr algn="ctr"/>
            <a:r>
              <a:rPr sz="1600" b="0">
                <a:solidFill>
                  <a:srgbClr val="8888A0"/>
                </a:solidFill>
                <a:latin typeface="JetBrains Mono"/>
              </a:rPr>
              <a:t>[ Photo ]</a:t>
            </a:r>
          </a:p>
        </p:txBody>
      </p:sp>
      <p:sp>
        <p:nvSpPr>
          <p:cNvPr id="6" name="Rectangle 5"/>
          <p:cNvSpPr/>
          <p:nvPr/>
        </p:nvSpPr>
        <p:spPr>
          <a:xfrm>
            <a:off x="4754880" y="137160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54880" y="1508760"/>
            <a:ext cx="6858000" cy="365760"/>
          </a:xfrm>
          <a:prstGeom prst="rect">
            <a:avLst/>
          </a:prstGeom>
          <a:noFill/>
        </p:spPr>
        <p:txBody>
          <a:bodyPr wrap="square" lIns="0" rIns="0" tIns="0" bIns="0" anchor="t">
            <a:spAutoFit/>
          </a:bodyPr>
          <a:lstStyle/>
          <a:p>
            <a:pPr algn="l"/>
            <a:r>
              <a:rPr sz="1400" b="1">
                <a:solidFill>
                  <a:srgbClr val="4AB8D2"/>
                </a:solidFill>
                <a:latin typeface="JetBrains Mono"/>
              </a:rPr>
              <a:t>SPEAKER</a:t>
            </a:r>
          </a:p>
        </p:txBody>
      </p:sp>
      <p:sp>
        <p:nvSpPr>
          <p:cNvPr id="8" name="TextBox 7"/>
          <p:cNvSpPr txBox="1"/>
          <p:nvPr/>
        </p:nvSpPr>
        <p:spPr>
          <a:xfrm>
            <a:off x="4754880" y="1920240"/>
            <a:ext cx="6858000" cy="822960"/>
          </a:xfrm>
          <a:prstGeom prst="rect">
            <a:avLst/>
          </a:prstGeom>
          <a:noFill/>
        </p:spPr>
        <p:txBody>
          <a:bodyPr wrap="square" lIns="0" rIns="0" tIns="0" bIns="0" anchor="t">
            <a:spAutoFit/>
          </a:bodyPr>
          <a:lstStyle/>
          <a:p>
            <a:pPr algn="l"/>
            <a:r>
              <a:rPr sz="4000" b="1">
                <a:solidFill>
                  <a:srgbClr val="E8E8ED"/>
                </a:solidFill>
                <a:latin typeface="Inter"/>
              </a:rPr>
              <a:t>Speaker Name</a:t>
            </a:r>
          </a:p>
        </p:txBody>
      </p:sp>
      <p:sp>
        <p:nvSpPr>
          <p:cNvPr id="9" name="TextBox 8"/>
          <p:cNvSpPr txBox="1"/>
          <p:nvPr/>
        </p:nvSpPr>
        <p:spPr>
          <a:xfrm>
            <a:off x="4754880" y="2788920"/>
            <a:ext cx="6858000" cy="457200"/>
          </a:xfrm>
          <a:prstGeom prst="rect">
            <a:avLst/>
          </a:prstGeom>
          <a:noFill/>
        </p:spPr>
        <p:txBody>
          <a:bodyPr wrap="square" lIns="0" rIns="0" tIns="0" bIns="0" anchor="t">
            <a:spAutoFit/>
          </a:bodyPr>
          <a:lstStyle/>
          <a:p>
            <a:pPr algn="l"/>
            <a:r>
              <a:rPr sz="2000" b="0">
                <a:solidFill>
                  <a:srgbClr val="6DD0E7"/>
                </a:solidFill>
                <a:latin typeface="Inter"/>
              </a:rPr>
              <a:t>Role  ·  Company</a:t>
            </a:r>
          </a:p>
        </p:txBody>
      </p:sp>
      <p:sp>
        <p:nvSpPr>
          <p:cNvPr id="10" name="TextBox 9"/>
          <p:cNvSpPr txBox="1"/>
          <p:nvPr/>
        </p:nvSpPr>
        <p:spPr>
          <a:xfrm>
            <a:off x="4754880" y="3474720"/>
            <a:ext cx="6858000" cy="2103120"/>
          </a:xfrm>
          <a:prstGeom prst="rect">
            <a:avLst/>
          </a:prstGeom>
          <a:noFill/>
        </p:spPr>
        <p:txBody>
          <a:bodyPr wrap="square" lIns="0" rIns="0" tIns="0" bIns="0" anchor="t">
            <a:spAutoFit/>
          </a:bodyPr>
          <a:lstStyle/>
          <a:p>
            <a:pPr algn="l"/>
            <a:r>
              <a:rPr sz="1600" b="0">
                <a:solidFill>
                  <a:srgbClr val="8888A0"/>
                </a:solidFill>
                <a:latin typeface="Inter"/>
              </a:rPr>
              <a:t>Short bio. Two or three sentences about background, specialization, and what the audience will take away from the talk. Keep it conversational and specific.</a:t>
            </a:r>
          </a:p>
        </p:txBody>
      </p:sp>
      <p:sp>
        <p:nvSpPr>
          <p:cNvPr id="11" name="TextBox 10"/>
          <p:cNvSpPr txBox="1"/>
          <p:nvPr/>
        </p:nvSpPr>
        <p:spPr>
          <a:xfrm>
            <a:off x="4754880" y="5669280"/>
            <a:ext cx="6858000" cy="365760"/>
          </a:xfrm>
          <a:prstGeom prst="rect">
            <a:avLst/>
          </a:prstGeom>
          <a:noFill/>
        </p:spPr>
        <p:txBody>
          <a:bodyPr wrap="square" lIns="0" rIns="0" tIns="0" bIns="0" anchor="t">
            <a:spAutoFit/>
          </a:bodyPr>
          <a:lstStyle/>
          <a:p>
            <a:pPr algn="l"/>
            <a:r>
              <a:rPr sz="1400" b="0">
                <a:solidFill>
                  <a:srgbClr val="4AB8D2"/>
                </a:solidFill>
                <a:latin typeface="JetBrains Mono"/>
              </a:rPr>
              <a:t>@handle  ·  speaker.example.com</a:t>
            </a:r>
          </a:p>
        </p:txBody>
      </p:sp>
      <p:sp>
        <p:nvSpPr>
          <p:cNvPr id="12" name="TextBox 11"/>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13" name="TextBox 12"/>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Speaker</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320040"/>
            <a:ext cx="889686" cy="658368"/>
          </a:xfrm>
          <a:prstGeom prst="rect">
            <a:avLst/>
          </a:prstGeom>
        </p:spPr>
      </p:pic>
      <p:sp>
        <p:nvSpPr>
          <p:cNvPr id="4" name="Rectangle 3"/>
          <p:cNvSpPr/>
          <p:nvPr/>
        </p:nvSpPr>
        <p:spPr>
          <a:xfrm>
            <a:off x="548640" y="100584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115568"/>
            <a:ext cx="10972800" cy="640080"/>
          </a:xfrm>
          <a:prstGeom prst="rect">
            <a:avLst/>
          </a:prstGeom>
          <a:noFill/>
        </p:spPr>
        <p:txBody>
          <a:bodyPr wrap="square" lIns="0" rIns="0" tIns="0" bIns="0" anchor="t">
            <a:spAutoFit/>
          </a:bodyPr>
          <a:lstStyle/>
          <a:p>
            <a:pPr algn="l"/>
            <a:r>
              <a:rPr sz="3400" b="1">
                <a:solidFill>
                  <a:srgbClr val="E8E8ED"/>
                </a:solidFill>
                <a:latin typeface="Inter"/>
              </a:rPr>
              <a:t>Thank You to Our Sponsors</a:t>
            </a:r>
          </a:p>
        </p:txBody>
      </p:sp>
      <p:sp>
        <p:nvSpPr>
          <p:cNvPr id="6" name="Rounded Rectangle 5"/>
          <p:cNvSpPr/>
          <p:nvPr/>
        </p:nvSpPr>
        <p:spPr>
          <a:xfrm>
            <a:off x="374904" y="1728215"/>
            <a:ext cx="9367083" cy="1188720"/>
          </a:xfrm>
          <a:prstGeom prst="roundRect">
            <a:avLst>
              <a:gd name="adj" fmla="val 10000"/>
            </a:avLst>
          </a:prstGeom>
          <a:solidFill>
            <a:srgbClr val="1A1A25">
              <a:alpha val="15000"/>
            </a:srgbClr>
          </a:solidFill>
          <a:ln w="9525">
            <a:solidFill>
              <a:srgbClr val="2A2A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anske BankLogo White RGB.png"/>
          <p:cNvPicPr>
            <a:picLocks noChangeAspect="1"/>
          </p:cNvPicPr>
          <p:nvPr/>
        </p:nvPicPr>
        <p:blipFill>
          <a:blip r:embed="rId4"/>
          <a:stretch>
            <a:fillRect/>
          </a:stretch>
        </p:blipFill>
        <p:spPr>
          <a:xfrm>
            <a:off x="502920" y="1856231"/>
            <a:ext cx="9111051" cy="932688"/>
          </a:xfrm>
          <a:prstGeom prst="rect">
            <a:avLst/>
          </a:prstGeom>
        </p:spPr>
      </p:pic>
      <p:sp>
        <p:nvSpPr>
          <p:cNvPr id="8" name="Rounded Rectangle 7"/>
          <p:cNvSpPr/>
          <p:nvPr/>
        </p:nvSpPr>
        <p:spPr>
          <a:xfrm>
            <a:off x="10022639" y="1728215"/>
            <a:ext cx="1791408" cy="1188720"/>
          </a:xfrm>
          <a:prstGeom prst="roundRect">
            <a:avLst>
              <a:gd name="adj" fmla="val 10000"/>
            </a:avLst>
          </a:prstGeom>
          <a:solidFill>
            <a:srgbClr val="1A1A25">
              <a:alpha val="15000"/>
            </a:srgbClr>
          </a:solidFill>
          <a:ln w="9525">
            <a:solidFill>
              <a:srgbClr val="2A2A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095791" y="1801367"/>
            <a:ext cx="1645104" cy="1042416"/>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sticker-mule.png"/>
          <p:cNvPicPr>
            <a:picLocks noChangeAspect="1"/>
          </p:cNvPicPr>
          <p:nvPr/>
        </p:nvPicPr>
        <p:blipFill>
          <a:blip r:embed="rId5"/>
          <a:stretch>
            <a:fillRect/>
          </a:stretch>
        </p:blipFill>
        <p:spPr>
          <a:xfrm>
            <a:off x="10150655" y="1856231"/>
            <a:ext cx="1535376" cy="932688"/>
          </a:xfrm>
          <a:prstGeom prst="rect">
            <a:avLst/>
          </a:prstGeom>
        </p:spPr>
      </p:pic>
      <p:sp>
        <p:nvSpPr>
          <p:cNvPr id="11" name="Rounded Rectangle 10"/>
          <p:cNvSpPr/>
          <p:nvPr/>
        </p:nvSpPr>
        <p:spPr>
          <a:xfrm>
            <a:off x="374904" y="2935223"/>
            <a:ext cx="6438198" cy="1188720"/>
          </a:xfrm>
          <a:prstGeom prst="roundRect">
            <a:avLst>
              <a:gd name="adj" fmla="val 10000"/>
            </a:avLst>
          </a:prstGeom>
          <a:solidFill>
            <a:srgbClr val="1A1A25">
              <a:alpha val="15000"/>
            </a:srgbClr>
          </a:solidFill>
          <a:ln w="9525">
            <a:solidFill>
              <a:srgbClr val="2A2A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_sponsor_Semgrep-logo--white.png"/>
          <p:cNvPicPr>
            <a:picLocks noChangeAspect="1"/>
          </p:cNvPicPr>
          <p:nvPr/>
        </p:nvPicPr>
        <p:blipFill>
          <a:blip r:embed="rId6"/>
          <a:stretch>
            <a:fillRect/>
          </a:stretch>
        </p:blipFill>
        <p:spPr>
          <a:xfrm>
            <a:off x="502920" y="3063239"/>
            <a:ext cx="6182166" cy="932688"/>
          </a:xfrm>
          <a:prstGeom prst="rect">
            <a:avLst/>
          </a:prstGeom>
        </p:spPr>
      </p:pic>
      <p:sp>
        <p:nvSpPr>
          <p:cNvPr id="13" name="Rounded Rectangle 12"/>
          <p:cNvSpPr/>
          <p:nvPr/>
        </p:nvSpPr>
        <p:spPr>
          <a:xfrm>
            <a:off x="7147360" y="2935223"/>
            <a:ext cx="4666687" cy="1188720"/>
          </a:xfrm>
          <a:prstGeom prst="roundRect">
            <a:avLst>
              <a:gd name="adj" fmla="val 10000"/>
            </a:avLst>
          </a:prstGeom>
          <a:solidFill>
            <a:srgbClr val="1A1A25">
              <a:alpha val="15000"/>
            </a:srgbClr>
          </a:solidFill>
          <a:ln w="9525">
            <a:solidFill>
              <a:srgbClr val="2A2A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aulogo_uk_var2_white.png"/>
          <p:cNvPicPr>
            <a:picLocks noChangeAspect="1"/>
          </p:cNvPicPr>
          <p:nvPr/>
        </p:nvPicPr>
        <p:blipFill>
          <a:blip r:embed="rId7"/>
          <a:stretch>
            <a:fillRect/>
          </a:stretch>
        </p:blipFill>
        <p:spPr>
          <a:xfrm>
            <a:off x="7275376" y="3063239"/>
            <a:ext cx="4410655" cy="932688"/>
          </a:xfrm>
          <a:prstGeom prst="rect">
            <a:avLst/>
          </a:prstGeom>
        </p:spPr>
      </p:pic>
      <p:sp>
        <p:nvSpPr>
          <p:cNvPr id="15" name="Rounded Rectangle 14"/>
          <p:cNvSpPr/>
          <p:nvPr/>
        </p:nvSpPr>
        <p:spPr>
          <a:xfrm>
            <a:off x="1279080" y="4142232"/>
            <a:ext cx="6372967" cy="1188720"/>
          </a:xfrm>
          <a:prstGeom prst="roundRect">
            <a:avLst>
              <a:gd name="adj" fmla="val 10000"/>
            </a:avLst>
          </a:prstGeom>
          <a:solidFill>
            <a:srgbClr val="1A1A25">
              <a:alpha val="15000"/>
            </a:srgbClr>
          </a:solidFill>
          <a:ln w="9525">
            <a:solidFill>
              <a:srgbClr val="2A2A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Truesec-Logo-Large-White.png"/>
          <p:cNvPicPr>
            <a:picLocks noChangeAspect="1"/>
          </p:cNvPicPr>
          <p:nvPr/>
        </p:nvPicPr>
        <p:blipFill>
          <a:blip r:embed="rId8"/>
          <a:stretch>
            <a:fillRect/>
          </a:stretch>
        </p:blipFill>
        <p:spPr>
          <a:xfrm>
            <a:off x="1407096" y="4270248"/>
            <a:ext cx="6116935" cy="932688"/>
          </a:xfrm>
          <a:prstGeom prst="rect">
            <a:avLst/>
          </a:prstGeom>
        </p:spPr>
      </p:pic>
      <p:sp>
        <p:nvSpPr>
          <p:cNvPr id="17" name="Rounded Rectangle 16"/>
          <p:cNvSpPr/>
          <p:nvPr/>
        </p:nvSpPr>
        <p:spPr>
          <a:xfrm>
            <a:off x="7725199" y="4142232"/>
            <a:ext cx="3184672" cy="1188720"/>
          </a:xfrm>
          <a:prstGeom prst="roundRect">
            <a:avLst>
              <a:gd name="adj" fmla="val 10000"/>
            </a:avLst>
          </a:prstGeom>
          <a:solidFill>
            <a:srgbClr val="1A1A25">
              <a:alpha val="15000"/>
            </a:srgbClr>
          </a:solidFill>
          <a:ln w="9525">
            <a:solidFill>
              <a:srgbClr val="2A2A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7798351" y="4215384"/>
            <a:ext cx="3038368" cy="1042416"/>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_sponsor_incuba-logo.png"/>
          <p:cNvPicPr>
            <a:picLocks noChangeAspect="1"/>
          </p:cNvPicPr>
          <p:nvPr/>
        </p:nvPicPr>
        <p:blipFill>
          <a:blip r:embed="rId9"/>
          <a:stretch>
            <a:fillRect/>
          </a:stretch>
        </p:blipFill>
        <p:spPr>
          <a:xfrm>
            <a:off x="7853215" y="4270248"/>
            <a:ext cx="2928640" cy="932688"/>
          </a:xfrm>
          <a:prstGeom prst="rect">
            <a:avLst/>
          </a:prstGeom>
        </p:spPr>
      </p:pic>
      <p:sp>
        <p:nvSpPr>
          <p:cNvPr id="20" name="Rounded Rectangle 19"/>
          <p:cNvSpPr/>
          <p:nvPr/>
        </p:nvSpPr>
        <p:spPr>
          <a:xfrm>
            <a:off x="374904" y="5349240"/>
            <a:ext cx="5387370" cy="1188720"/>
          </a:xfrm>
          <a:prstGeom prst="roundRect">
            <a:avLst>
              <a:gd name="adj" fmla="val 10000"/>
            </a:avLst>
          </a:prstGeom>
          <a:solidFill>
            <a:srgbClr val="1A1A25">
              <a:alpha val="15000"/>
            </a:srgbClr>
          </a:solidFill>
          <a:ln w="9525">
            <a:solidFill>
              <a:srgbClr val="2A2A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_sponsor_baldur_security_final.png"/>
          <p:cNvPicPr>
            <a:picLocks noChangeAspect="1"/>
          </p:cNvPicPr>
          <p:nvPr/>
        </p:nvPicPr>
        <p:blipFill>
          <a:blip r:embed="rId10"/>
          <a:stretch>
            <a:fillRect/>
          </a:stretch>
        </p:blipFill>
        <p:spPr>
          <a:xfrm>
            <a:off x="502920" y="5477256"/>
            <a:ext cx="5131338" cy="932688"/>
          </a:xfrm>
          <a:prstGeom prst="rect">
            <a:avLst/>
          </a:prstGeom>
        </p:spPr>
      </p:pic>
      <p:sp>
        <p:nvSpPr>
          <p:cNvPr id="22" name="Rounded Rectangle 21"/>
          <p:cNvSpPr/>
          <p:nvPr/>
        </p:nvSpPr>
        <p:spPr>
          <a:xfrm>
            <a:off x="6268089" y="5349240"/>
            <a:ext cx="2918735" cy="1188720"/>
          </a:xfrm>
          <a:prstGeom prst="roundRect">
            <a:avLst>
              <a:gd name="adj" fmla="val 10000"/>
            </a:avLst>
          </a:prstGeom>
          <a:solidFill>
            <a:srgbClr val="1A1A25">
              <a:alpha val="15000"/>
            </a:srgbClr>
          </a:solidFill>
          <a:ln w="9525">
            <a:solidFill>
              <a:srgbClr val="2A2A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tech-hub-aarhus.png"/>
          <p:cNvPicPr>
            <a:picLocks noChangeAspect="1"/>
          </p:cNvPicPr>
          <p:nvPr/>
        </p:nvPicPr>
        <p:blipFill>
          <a:blip r:embed="rId11"/>
          <a:stretch>
            <a:fillRect/>
          </a:stretch>
        </p:blipFill>
        <p:spPr>
          <a:xfrm>
            <a:off x="6396105" y="5477256"/>
            <a:ext cx="2662703" cy="932688"/>
          </a:xfrm>
          <a:prstGeom prst="rect">
            <a:avLst/>
          </a:prstGeom>
        </p:spPr>
      </p:pic>
      <p:sp>
        <p:nvSpPr>
          <p:cNvPr id="24" name="Rounded Rectangle 23"/>
          <p:cNvSpPr/>
          <p:nvPr/>
        </p:nvSpPr>
        <p:spPr>
          <a:xfrm>
            <a:off x="9692639" y="5349240"/>
            <a:ext cx="2121408" cy="1188720"/>
          </a:xfrm>
          <a:prstGeom prst="roundRect">
            <a:avLst>
              <a:gd name="adj" fmla="val 10000"/>
            </a:avLst>
          </a:prstGeom>
          <a:solidFill>
            <a:srgbClr val="1A1A25">
              <a:alpha val="15000"/>
            </a:srgbClr>
          </a:solidFill>
          <a:ln w="9525">
            <a:solidFill>
              <a:srgbClr val="2A2A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9765791" y="5422392"/>
            <a:ext cx="1975104" cy="1042416"/>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AarhusKommuneErhverv_Logo.png"/>
          <p:cNvPicPr>
            <a:picLocks noChangeAspect="1"/>
          </p:cNvPicPr>
          <p:nvPr/>
        </p:nvPicPr>
        <p:blipFill>
          <a:blip r:embed="rId12"/>
          <a:stretch>
            <a:fillRect/>
          </a:stretch>
        </p:blipFill>
        <p:spPr>
          <a:xfrm>
            <a:off x="9820655" y="5477256"/>
            <a:ext cx="1865376" cy="932688"/>
          </a:xfrm>
          <a:prstGeom prst="rect">
            <a:avLst/>
          </a:prstGeom>
        </p:spPr>
      </p:pic>
      <p:sp>
        <p:nvSpPr>
          <p:cNvPr id="27" name="TextBox 26"/>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28" name="TextBox 27"/>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Sponsors</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889686" cy="658368"/>
          </a:xfrm>
          <a:prstGeom prst="rect">
            <a:avLst/>
          </a:prstGeom>
        </p:spPr>
      </p:pic>
      <p:sp>
        <p:nvSpPr>
          <p:cNvPr id="4" name="Rounded Rectangle 3"/>
          <p:cNvSpPr/>
          <p:nvPr/>
        </p:nvSpPr>
        <p:spPr>
          <a:xfrm>
            <a:off x="548640" y="1463040"/>
            <a:ext cx="3840480" cy="4389120"/>
          </a:xfrm>
          <a:prstGeom prst="roundRect">
            <a:avLst>
              <a:gd name="adj" fmla="val 4000"/>
            </a:avLst>
          </a:prstGeom>
          <a:solidFill>
            <a:srgbClr val="1A1A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age.jpg"/>
          <p:cNvPicPr>
            <a:picLocks noChangeAspect="1"/>
          </p:cNvPicPr>
          <p:nvPr/>
        </p:nvPicPr>
        <p:blipFill>
          <a:blip r:embed="rId4"/>
          <a:stretch>
            <a:fillRect/>
          </a:stretch>
        </p:blipFill>
        <p:spPr>
          <a:xfrm>
            <a:off x="914400" y="2103120"/>
            <a:ext cx="3108960" cy="3108960"/>
          </a:xfrm>
          <a:prstGeom prst="rect">
            <a:avLst/>
          </a:prstGeom>
        </p:spPr>
      </p:pic>
      <p:sp>
        <p:nvSpPr>
          <p:cNvPr id="6" name="Rectangle 5"/>
          <p:cNvSpPr/>
          <p:nvPr/>
        </p:nvSpPr>
        <p:spPr>
          <a:xfrm>
            <a:off x="4754880" y="137160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54880" y="1508760"/>
            <a:ext cx="6858000" cy="365760"/>
          </a:xfrm>
          <a:prstGeom prst="rect">
            <a:avLst/>
          </a:prstGeom>
          <a:noFill/>
        </p:spPr>
        <p:txBody>
          <a:bodyPr wrap="square" lIns="0" rIns="0" tIns="0" bIns="0" anchor="t">
            <a:spAutoFit/>
          </a:bodyPr>
          <a:lstStyle/>
          <a:p>
            <a:pPr algn="l"/>
            <a:r>
              <a:rPr sz="1400" b="1">
                <a:solidFill>
                  <a:srgbClr val="4AB8D2"/>
                </a:solidFill>
                <a:latin typeface="JetBrains Mono"/>
              </a:rPr>
              <a:t>SPEAKER</a:t>
            </a:r>
          </a:p>
        </p:txBody>
      </p:sp>
      <p:sp>
        <p:nvSpPr>
          <p:cNvPr id="8" name="TextBox 7"/>
          <p:cNvSpPr txBox="1"/>
          <p:nvPr/>
        </p:nvSpPr>
        <p:spPr>
          <a:xfrm>
            <a:off x="4754880" y="1920240"/>
            <a:ext cx="6858000" cy="822960"/>
          </a:xfrm>
          <a:prstGeom prst="rect">
            <a:avLst/>
          </a:prstGeom>
          <a:noFill/>
        </p:spPr>
        <p:txBody>
          <a:bodyPr wrap="square" lIns="0" rIns="0" tIns="0" bIns="0" anchor="t">
            <a:spAutoFit/>
          </a:bodyPr>
          <a:lstStyle/>
          <a:p>
            <a:pPr algn="l"/>
            <a:r>
              <a:rPr sz="4000" b="1">
                <a:solidFill>
                  <a:srgbClr val="E8E8ED"/>
                </a:solidFill>
                <a:latin typeface="Inter"/>
              </a:rPr>
              <a:t>Klaus Agnoletti</a:t>
            </a:r>
          </a:p>
        </p:txBody>
      </p:sp>
      <p:sp>
        <p:nvSpPr>
          <p:cNvPr id="9" name="TextBox 8"/>
          <p:cNvSpPr txBox="1"/>
          <p:nvPr/>
        </p:nvSpPr>
        <p:spPr>
          <a:xfrm>
            <a:off x="4754880" y="2788920"/>
            <a:ext cx="6858000" cy="457200"/>
          </a:xfrm>
          <a:prstGeom prst="rect">
            <a:avLst/>
          </a:prstGeom>
          <a:noFill/>
        </p:spPr>
        <p:txBody>
          <a:bodyPr wrap="square" lIns="0" rIns="0" tIns="0" bIns="0" anchor="t">
            <a:spAutoFit/>
          </a:bodyPr>
          <a:lstStyle/>
          <a:p>
            <a:pPr algn="l"/>
            <a:r>
              <a:rPr sz="2000" b="0">
                <a:solidFill>
                  <a:srgbClr val="6DD0E7"/>
                </a:solidFill>
                <a:latin typeface="Inter"/>
              </a:rPr>
              <a:t>Storytelling Cyber Security Advisor, Relations Security</a:t>
            </a:r>
          </a:p>
        </p:txBody>
      </p:sp>
      <p:sp>
        <p:nvSpPr>
          <p:cNvPr id="10" name="TextBox 9"/>
          <p:cNvSpPr txBox="1"/>
          <p:nvPr/>
        </p:nvSpPr>
        <p:spPr>
          <a:xfrm>
            <a:off x="4754880" y="3474720"/>
            <a:ext cx="6858000" cy="2103120"/>
          </a:xfrm>
          <a:prstGeom prst="rect">
            <a:avLst/>
          </a:prstGeom>
          <a:noFill/>
        </p:spPr>
        <p:txBody>
          <a:bodyPr wrap="square" lIns="0" rIns="0" tIns="0" bIns="0" anchor="t">
            <a:spAutoFit/>
          </a:bodyPr>
          <a:lstStyle/>
          <a:p>
            <a:pPr algn="l"/>
            <a:r>
              <a:rPr sz="1600" b="0">
                <a:solidFill>
                  <a:srgbClr val="8888A0"/>
                </a:solidFill>
                <a:latin typeface="Inter"/>
              </a:rPr>
              <a:t>Klaus Agnoletti has been an all-round infosec professional since 2004. He co-founded BSides København in 2019. Recently he started out as an infosec freelancer focusing on storytelling in marketing, employer branding, game-based learning or wherever new ideas bring him.</a:t>
            </a:r>
          </a:p>
        </p:txBody>
      </p:sp>
      <p:sp>
        <p:nvSpPr>
          <p:cNvPr id="11" name="TextBox 10"/>
          <p:cNvSpPr txBox="1"/>
          <p:nvPr/>
        </p:nvSpPr>
        <p:spPr>
          <a:xfrm>
            <a:off x="4754880" y="5669280"/>
            <a:ext cx="6858000" cy="365760"/>
          </a:xfrm>
          <a:prstGeom prst="rect">
            <a:avLst/>
          </a:prstGeom>
          <a:noFill/>
        </p:spPr>
        <p:txBody>
          <a:bodyPr wrap="square" lIns="0" rIns="0" tIns="0" bIns="0" anchor="t">
            <a:spAutoFit/>
          </a:bodyPr>
          <a:lstStyle/>
          <a:p>
            <a:pPr algn="l"/>
            <a:r>
              <a:rPr sz="1400" b="0">
                <a:solidFill>
                  <a:srgbClr val="4AB8D2"/>
                </a:solidFill>
                <a:latin typeface="JetBrains Mono"/>
              </a:rPr>
              <a:t>linkedin.com/in/agnoletti</a:t>
            </a:r>
          </a:p>
        </p:txBody>
      </p:sp>
      <p:sp>
        <p:nvSpPr>
          <p:cNvPr id="12" name="TextBox 11"/>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13" name="TextBox 12"/>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Speaker</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889686" cy="658368"/>
          </a:xfrm>
          <a:prstGeom prst="rect">
            <a:avLst/>
          </a:prstGeom>
        </p:spPr>
      </p:pic>
      <p:sp>
        <p:nvSpPr>
          <p:cNvPr id="4" name="Rounded Rectangle 3"/>
          <p:cNvSpPr/>
          <p:nvPr/>
        </p:nvSpPr>
        <p:spPr>
          <a:xfrm>
            <a:off x="548640" y="1463040"/>
            <a:ext cx="3840480" cy="4389120"/>
          </a:xfrm>
          <a:prstGeom prst="roundRect">
            <a:avLst>
              <a:gd name="adj" fmla="val 4000"/>
            </a:avLst>
          </a:prstGeom>
          <a:solidFill>
            <a:srgbClr val="1A1A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age.jpg"/>
          <p:cNvPicPr>
            <a:picLocks noChangeAspect="1"/>
          </p:cNvPicPr>
          <p:nvPr/>
        </p:nvPicPr>
        <p:blipFill>
          <a:blip r:embed="rId4"/>
          <a:stretch>
            <a:fillRect/>
          </a:stretch>
        </p:blipFill>
        <p:spPr>
          <a:xfrm>
            <a:off x="914400" y="2103120"/>
            <a:ext cx="3108960" cy="3108960"/>
          </a:xfrm>
          <a:prstGeom prst="rect">
            <a:avLst/>
          </a:prstGeom>
        </p:spPr>
      </p:pic>
      <p:sp>
        <p:nvSpPr>
          <p:cNvPr id="6" name="Rectangle 5"/>
          <p:cNvSpPr/>
          <p:nvPr/>
        </p:nvSpPr>
        <p:spPr>
          <a:xfrm>
            <a:off x="4754880" y="137160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54880" y="1508760"/>
            <a:ext cx="6858000" cy="365760"/>
          </a:xfrm>
          <a:prstGeom prst="rect">
            <a:avLst/>
          </a:prstGeom>
          <a:noFill/>
        </p:spPr>
        <p:txBody>
          <a:bodyPr wrap="square" lIns="0" rIns="0" tIns="0" bIns="0" anchor="t">
            <a:spAutoFit/>
          </a:bodyPr>
          <a:lstStyle/>
          <a:p>
            <a:pPr algn="l"/>
            <a:r>
              <a:rPr sz="1400" b="1">
                <a:solidFill>
                  <a:srgbClr val="4AB8D2"/>
                </a:solidFill>
                <a:latin typeface="JetBrains Mono"/>
              </a:rPr>
              <a:t>SPEAKER</a:t>
            </a:r>
          </a:p>
        </p:txBody>
      </p:sp>
      <p:sp>
        <p:nvSpPr>
          <p:cNvPr id="8" name="TextBox 7"/>
          <p:cNvSpPr txBox="1"/>
          <p:nvPr/>
        </p:nvSpPr>
        <p:spPr>
          <a:xfrm>
            <a:off x="4754880" y="1920240"/>
            <a:ext cx="6858000" cy="822960"/>
          </a:xfrm>
          <a:prstGeom prst="rect">
            <a:avLst/>
          </a:prstGeom>
          <a:noFill/>
        </p:spPr>
        <p:txBody>
          <a:bodyPr wrap="square" lIns="0" rIns="0" tIns="0" bIns="0" anchor="t">
            <a:spAutoFit/>
          </a:bodyPr>
          <a:lstStyle/>
          <a:p>
            <a:pPr algn="l"/>
            <a:r>
              <a:rPr sz="4000" b="1">
                <a:solidFill>
                  <a:srgbClr val="E8E8ED"/>
                </a:solidFill>
                <a:latin typeface="Inter"/>
              </a:rPr>
              <a:t>Martin Sohn Christensen</a:t>
            </a:r>
          </a:p>
        </p:txBody>
      </p:sp>
      <p:sp>
        <p:nvSpPr>
          <p:cNvPr id="9" name="TextBox 8"/>
          <p:cNvSpPr txBox="1"/>
          <p:nvPr/>
        </p:nvSpPr>
        <p:spPr>
          <a:xfrm>
            <a:off x="4754880" y="2788920"/>
            <a:ext cx="6858000" cy="457200"/>
          </a:xfrm>
          <a:prstGeom prst="rect">
            <a:avLst/>
          </a:prstGeom>
          <a:noFill/>
        </p:spPr>
        <p:txBody>
          <a:bodyPr wrap="square" lIns="0" rIns="0" tIns="0" bIns="0" anchor="t">
            <a:spAutoFit/>
          </a:bodyPr>
          <a:lstStyle/>
          <a:p>
            <a:pPr algn="l"/>
            <a:r>
              <a:rPr sz="2000" b="0">
                <a:solidFill>
                  <a:srgbClr val="6DD0E7"/>
                </a:solidFill>
                <a:latin typeface="Inter"/>
              </a:rPr>
              <a:t>Security Researcher, SpecterOps</a:t>
            </a:r>
          </a:p>
        </p:txBody>
      </p:sp>
      <p:sp>
        <p:nvSpPr>
          <p:cNvPr id="10" name="TextBox 9"/>
          <p:cNvSpPr txBox="1"/>
          <p:nvPr/>
        </p:nvSpPr>
        <p:spPr>
          <a:xfrm>
            <a:off x="4754880" y="3474720"/>
            <a:ext cx="6858000" cy="2103120"/>
          </a:xfrm>
          <a:prstGeom prst="rect">
            <a:avLst/>
          </a:prstGeom>
          <a:noFill/>
        </p:spPr>
        <p:txBody>
          <a:bodyPr wrap="square" lIns="0" rIns="0" tIns="0" bIns="0" anchor="t">
            <a:spAutoFit/>
          </a:bodyPr>
          <a:lstStyle/>
          <a:p>
            <a:pPr algn="l"/>
            <a:r>
              <a:rPr sz="1600" b="0">
                <a:solidFill>
                  <a:srgbClr val="8888A0"/>
                </a:solidFill>
                <a:latin typeface="Inter"/>
              </a:rPr>
              <a:t>Martin is a Security Researcher at SpecterOps in Copenhagen, specializing in Microsoft technologies with expertise in Active Directory, identity attack paths, and secure system configuration. His perspective on security risks and challenges is shaped by a background spanning system administration, an information security degree, and information security consultancy. He is a frequent contributor to the community through online engagement and talks.</a:t>
            </a:r>
          </a:p>
        </p:txBody>
      </p:sp>
      <p:sp>
        <p:nvSpPr>
          <p:cNvPr id="11" name="TextBox 10"/>
          <p:cNvSpPr txBox="1"/>
          <p:nvPr/>
        </p:nvSpPr>
        <p:spPr>
          <a:xfrm>
            <a:off x="4754880" y="5669280"/>
            <a:ext cx="6858000" cy="365760"/>
          </a:xfrm>
          <a:prstGeom prst="rect">
            <a:avLst/>
          </a:prstGeom>
          <a:noFill/>
        </p:spPr>
        <p:txBody>
          <a:bodyPr wrap="square" lIns="0" rIns="0" tIns="0" bIns="0" anchor="t">
            <a:spAutoFit/>
          </a:bodyPr>
          <a:lstStyle/>
          <a:p>
            <a:pPr algn="l"/>
            <a:r>
              <a:rPr sz="1400" b="0">
                <a:solidFill>
                  <a:srgbClr val="4AB8D2"/>
                </a:solidFill>
                <a:latin typeface="JetBrains Mono"/>
              </a:rPr>
              <a:t>linkedin.com/in/martinsohn  ·  martinsohn.dk</a:t>
            </a:r>
          </a:p>
        </p:txBody>
      </p:sp>
      <p:sp>
        <p:nvSpPr>
          <p:cNvPr id="12" name="TextBox 11"/>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13" name="TextBox 12"/>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Speaker</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889686" cy="658368"/>
          </a:xfrm>
          <a:prstGeom prst="rect">
            <a:avLst/>
          </a:prstGeom>
        </p:spPr>
      </p:pic>
      <p:sp>
        <p:nvSpPr>
          <p:cNvPr id="4" name="Rounded Rectangle 3"/>
          <p:cNvSpPr/>
          <p:nvPr/>
        </p:nvSpPr>
        <p:spPr>
          <a:xfrm>
            <a:off x="548640" y="1463040"/>
            <a:ext cx="3840480" cy="4389120"/>
          </a:xfrm>
          <a:prstGeom prst="roundRect">
            <a:avLst>
              <a:gd name="adj" fmla="val 4000"/>
            </a:avLst>
          </a:prstGeom>
          <a:solidFill>
            <a:srgbClr val="1A1A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age.jpg"/>
          <p:cNvPicPr>
            <a:picLocks noChangeAspect="1"/>
          </p:cNvPicPr>
          <p:nvPr/>
        </p:nvPicPr>
        <p:blipFill>
          <a:blip r:embed="rId4"/>
          <a:stretch>
            <a:fillRect/>
          </a:stretch>
        </p:blipFill>
        <p:spPr>
          <a:xfrm>
            <a:off x="914400" y="2103120"/>
            <a:ext cx="3108960" cy="3108960"/>
          </a:xfrm>
          <a:prstGeom prst="rect">
            <a:avLst/>
          </a:prstGeom>
        </p:spPr>
      </p:pic>
      <p:sp>
        <p:nvSpPr>
          <p:cNvPr id="6" name="Rectangle 5"/>
          <p:cNvSpPr/>
          <p:nvPr/>
        </p:nvSpPr>
        <p:spPr>
          <a:xfrm>
            <a:off x="4754880" y="137160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54880" y="1508760"/>
            <a:ext cx="6858000" cy="365760"/>
          </a:xfrm>
          <a:prstGeom prst="rect">
            <a:avLst/>
          </a:prstGeom>
          <a:noFill/>
        </p:spPr>
        <p:txBody>
          <a:bodyPr wrap="square" lIns="0" rIns="0" tIns="0" bIns="0" anchor="t">
            <a:spAutoFit/>
          </a:bodyPr>
          <a:lstStyle/>
          <a:p>
            <a:pPr algn="l"/>
            <a:r>
              <a:rPr sz="1400" b="1">
                <a:solidFill>
                  <a:srgbClr val="4AB8D2"/>
                </a:solidFill>
                <a:latin typeface="JetBrains Mono"/>
              </a:rPr>
              <a:t>SPEAKER</a:t>
            </a:r>
          </a:p>
        </p:txBody>
      </p:sp>
      <p:sp>
        <p:nvSpPr>
          <p:cNvPr id="8" name="TextBox 7"/>
          <p:cNvSpPr txBox="1"/>
          <p:nvPr/>
        </p:nvSpPr>
        <p:spPr>
          <a:xfrm>
            <a:off x="4754880" y="1920240"/>
            <a:ext cx="6858000" cy="822960"/>
          </a:xfrm>
          <a:prstGeom prst="rect">
            <a:avLst/>
          </a:prstGeom>
          <a:noFill/>
        </p:spPr>
        <p:txBody>
          <a:bodyPr wrap="square" lIns="0" rIns="0" tIns="0" bIns="0" anchor="t">
            <a:spAutoFit/>
          </a:bodyPr>
          <a:lstStyle/>
          <a:p>
            <a:pPr algn="l"/>
            <a:r>
              <a:rPr sz="4000" b="1">
                <a:solidFill>
                  <a:srgbClr val="E8E8ED"/>
                </a:solidFill>
                <a:latin typeface="Inter"/>
              </a:rPr>
              <a:t>Marvin Ngoma</a:t>
            </a:r>
          </a:p>
        </p:txBody>
      </p:sp>
      <p:sp>
        <p:nvSpPr>
          <p:cNvPr id="9" name="TextBox 8"/>
          <p:cNvSpPr txBox="1"/>
          <p:nvPr/>
        </p:nvSpPr>
        <p:spPr>
          <a:xfrm>
            <a:off x="4754880" y="2788920"/>
            <a:ext cx="6858000" cy="457200"/>
          </a:xfrm>
          <a:prstGeom prst="rect">
            <a:avLst/>
          </a:prstGeom>
          <a:noFill/>
        </p:spPr>
        <p:txBody>
          <a:bodyPr wrap="square" lIns="0" rIns="0" tIns="0" bIns="0" anchor="t">
            <a:spAutoFit/>
          </a:bodyPr>
          <a:lstStyle/>
          <a:p>
            <a:pPr algn="l"/>
            <a:r>
              <a:rPr sz="2000" b="0">
                <a:solidFill>
                  <a:srgbClr val="6DD0E7"/>
                </a:solidFill>
                <a:latin typeface="Inter"/>
              </a:rPr>
              <a:t>Principal Security Architect, Security Evangelist, Elastic</a:t>
            </a:r>
          </a:p>
        </p:txBody>
      </p:sp>
      <p:sp>
        <p:nvSpPr>
          <p:cNvPr id="10" name="TextBox 9"/>
          <p:cNvSpPr txBox="1"/>
          <p:nvPr/>
        </p:nvSpPr>
        <p:spPr>
          <a:xfrm>
            <a:off x="4754880" y="3474720"/>
            <a:ext cx="6858000" cy="2103120"/>
          </a:xfrm>
          <a:prstGeom prst="rect">
            <a:avLst/>
          </a:prstGeom>
          <a:noFill/>
        </p:spPr>
        <p:txBody>
          <a:bodyPr wrap="square" lIns="0" rIns="0" tIns="0" bIns="0" anchor="t">
            <a:spAutoFit/>
          </a:bodyPr>
          <a:lstStyle/>
          <a:p>
            <a:pPr algn="l"/>
            <a:r>
              <a:rPr sz="1600" b="0">
                <a:solidFill>
                  <a:srgbClr val="8888A0"/>
                </a:solidFill>
                <a:latin typeface="Inter"/>
              </a:rPr>
              <a:t>Marvin is a Principal Security Architect and Security Evangelist at Elastic, and a seasoned consultant with a strong passion for helping organizations succeed in their cybersecurity programs. He has led many projects in both the private and public sectors — architecting and building Security Operations and Intelligence capabilities, and unifying tools, processes, and people. Before Elastic, he was a security consultant at IBM and the primary SME for QRadar in the Nordics.</a:t>
            </a:r>
          </a:p>
        </p:txBody>
      </p:sp>
      <p:sp>
        <p:nvSpPr>
          <p:cNvPr id="11" name="TextBox 10"/>
          <p:cNvSpPr txBox="1"/>
          <p:nvPr/>
        </p:nvSpPr>
        <p:spPr>
          <a:xfrm>
            <a:off x="4754880" y="5669280"/>
            <a:ext cx="6858000" cy="365760"/>
          </a:xfrm>
          <a:prstGeom prst="rect">
            <a:avLst/>
          </a:prstGeom>
          <a:noFill/>
        </p:spPr>
        <p:txBody>
          <a:bodyPr wrap="square" lIns="0" rIns="0" tIns="0" bIns="0" anchor="t">
            <a:spAutoFit/>
          </a:bodyPr>
          <a:lstStyle/>
          <a:p>
            <a:pPr algn="l"/>
            <a:r>
              <a:rPr sz="1400" b="0">
                <a:solidFill>
                  <a:srgbClr val="4AB8D2"/>
                </a:solidFill>
                <a:latin typeface="JetBrains Mono"/>
              </a:rPr>
              <a:t>linkedin.com/in/tyolani  ·  www.elastic.co/blog/author/marvin-ngoma</a:t>
            </a:r>
          </a:p>
        </p:txBody>
      </p:sp>
      <p:sp>
        <p:nvSpPr>
          <p:cNvPr id="12" name="TextBox 11"/>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13" name="TextBox 12"/>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Speaker</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889686" cy="658368"/>
          </a:xfrm>
          <a:prstGeom prst="rect">
            <a:avLst/>
          </a:prstGeom>
        </p:spPr>
      </p:pic>
      <p:sp>
        <p:nvSpPr>
          <p:cNvPr id="4" name="Rounded Rectangle 3"/>
          <p:cNvSpPr/>
          <p:nvPr/>
        </p:nvSpPr>
        <p:spPr>
          <a:xfrm>
            <a:off x="548640" y="1463040"/>
            <a:ext cx="3840480" cy="4389120"/>
          </a:xfrm>
          <a:prstGeom prst="roundRect">
            <a:avLst>
              <a:gd name="adj" fmla="val 4000"/>
            </a:avLst>
          </a:prstGeom>
          <a:solidFill>
            <a:srgbClr val="1A1A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age.jpg"/>
          <p:cNvPicPr>
            <a:picLocks noChangeAspect="1"/>
          </p:cNvPicPr>
          <p:nvPr/>
        </p:nvPicPr>
        <p:blipFill>
          <a:blip r:embed="rId4"/>
          <a:stretch>
            <a:fillRect/>
          </a:stretch>
        </p:blipFill>
        <p:spPr>
          <a:xfrm>
            <a:off x="914400" y="2103120"/>
            <a:ext cx="3108960" cy="3108960"/>
          </a:xfrm>
          <a:prstGeom prst="rect">
            <a:avLst/>
          </a:prstGeom>
        </p:spPr>
      </p:pic>
      <p:sp>
        <p:nvSpPr>
          <p:cNvPr id="6" name="Rectangle 5"/>
          <p:cNvSpPr/>
          <p:nvPr/>
        </p:nvSpPr>
        <p:spPr>
          <a:xfrm>
            <a:off x="4754880" y="137160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54880" y="1508760"/>
            <a:ext cx="6858000" cy="365760"/>
          </a:xfrm>
          <a:prstGeom prst="rect">
            <a:avLst/>
          </a:prstGeom>
          <a:noFill/>
        </p:spPr>
        <p:txBody>
          <a:bodyPr wrap="square" lIns="0" rIns="0" tIns="0" bIns="0" anchor="t">
            <a:spAutoFit/>
          </a:bodyPr>
          <a:lstStyle/>
          <a:p>
            <a:pPr algn="l"/>
            <a:r>
              <a:rPr sz="1400" b="1">
                <a:solidFill>
                  <a:srgbClr val="4AB8D2"/>
                </a:solidFill>
                <a:latin typeface="JetBrains Mono"/>
              </a:rPr>
              <a:t>SPEAKER</a:t>
            </a:r>
          </a:p>
        </p:txBody>
      </p:sp>
      <p:sp>
        <p:nvSpPr>
          <p:cNvPr id="8" name="TextBox 7"/>
          <p:cNvSpPr txBox="1"/>
          <p:nvPr/>
        </p:nvSpPr>
        <p:spPr>
          <a:xfrm>
            <a:off x="4754880" y="1920240"/>
            <a:ext cx="6858000" cy="822960"/>
          </a:xfrm>
          <a:prstGeom prst="rect">
            <a:avLst/>
          </a:prstGeom>
          <a:noFill/>
        </p:spPr>
        <p:txBody>
          <a:bodyPr wrap="square" lIns="0" rIns="0" tIns="0" bIns="0" anchor="t">
            <a:spAutoFit/>
          </a:bodyPr>
          <a:lstStyle/>
          <a:p>
            <a:pPr algn="l"/>
            <a:r>
              <a:rPr sz="4000" b="1">
                <a:solidFill>
                  <a:srgbClr val="E8E8ED"/>
                </a:solidFill>
                <a:latin typeface="Inter"/>
              </a:rPr>
              <a:t>Mikkel Ole Rømer</a:t>
            </a:r>
          </a:p>
        </p:txBody>
      </p:sp>
      <p:sp>
        <p:nvSpPr>
          <p:cNvPr id="9" name="TextBox 8"/>
          <p:cNvSpPr txBox="1"/>
          <p:nvPr/>
        </p:nvSpPr>
        <p:spPr>
          <a:xfrm>
            <a:off x="4754880" y="2788920"/>
            <a:ext cx="6858000" cy="457200"/>
          </a:xfrm>
          <a:prstGeom prst="rect">
            <a:avLst/>
          </a:prstGeom>
          <a:noFill/>
        </p:spPr>
        <p:txBody>
          <a:bodyPr wrap="square" lIns="0" rIns="0" tIns="0" bIns="0" anchor="t">
            <a:spAutoFit/>
          </a:bodyPr>
          <a:lstStyle/>
          <a:p>
            <a:pPr algn="l"/>
            <a:r>
              <a:rPr sz="2000" b="0">
                <a:solidFill>
                  <a:srgbClr val="6DD0E7"/>
                </a:solidFill>
                <a:latin typeface="Inter"/>
              </a:rPr>
              <a:t>Head of Offensive Security, Truesec</a:t>
            </a:r>
          </a:p>
        </p:txBody>
      </p:sp>
      <p:sp>
        <p:nvSpPr>
          <p:cNvPr id="10" name="TextBox 9"/>
          <p:cNvSpPr txBox="1"/>
          <p:nvPr/>
        </p:nvSpPr>
        <p:spPr>
          <a:xfrm>
            <a:off x="4754880" y="3474720"/>
            <a:ext cx="6858000" cy="2103120"/>
          </a:xfrm>
          <a:prstGeom prst="rect">
            <a:avLst/>
          </a:prstGeom>
          <a:noFill/>
        </p:spPr>
        <p:txBody>
          <a:bodyPr wrap="square" lIns="0" rIns="0" tIns="0" bIns="0" anchor="t">
            <a:spAutoFit/>
          </a:bodyPr>
          <a:lstStyle/>
          <a:p>
            <a:pPr algn="l"/>
            <a:r>
              <a:rPr sz="1600" b="0">
                <a:solidFill>
                  <a:srgbClr val="8888A0"/>
                </a:solidFill>
                <a:latin typeface="Inter"/>
              </a:rPr>
              <a:t>Cyber Security Expert - I am mainly engaged with adversary simulation for breach prevention. This experience includes penetration testing and adversary emulation within highly complex infrastructures of some of the largest national and international companies. Besides offensive cyber engagements I have led and designed thorough security analysis exercises of enterprise applications, including review and guidance within secure development practices.</a:t>
            </a:r>
          </a:p>
        </p:txBody>
      </p:sp>
      <p:sp>
        <p:nvSpPr>
          <p:cNvPr id="11" name="TextBox 10"/>
          <p:cNvSpPr txBox="1"/>
          <p:nvPr/>
        </p:nvSpPr>
        <p:spPr>
          <a:xfrm>
            <a:off x="4754880" y="5669280"/>
            <a:ext cx="6858000" cy="365760"/>
          </a:xfrm>
          <a:prstGeom prst="rect">
            <a:avLst/>
          </a:prstGeom>
          <a:noFill/>
        </p:spPr>
        <p:txBody>
          <a:bodyPr wrap="square" lIns="0" rIns="0" tIns="0" bIns="0" anchor="t">
            <a:spAutoFit/>
          </a:bodyPr>
          <a:lstStyle/>
          <a:p>
            <a:pPr algn="l"/>
            <a:r>
              <a:rPr sz="1400" b="0">
                <a:solidFill>
                  <a:srgbClr val="4AB8D2"/>
                </a:solidFill>
                <a:latin typeface="JetBrains Mono"/>
              </a:rPr>
              <a:t>linkedin.com/in/mikkel-r%C3%B8mer  ·  sessionize.com/mikkel-ole-romer</a:t>
            </a:r>
          </a:p>
        </p:txBody>
      </p:sp>
      <p:sp>
        <p:nvSpPr>
          <p:cNvPr id="12" name="TextBox 11"/>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13" name="TextBox 12"/>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Speaker</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889686" cy="658368"/>
          </a:xfrm>
          <a:prstGeom prst="rect">
            <a:avLst/>
          </a:prstGeom>
        </p:spPr>
      </p:pic>
      <p:sp>
        <p:nvSpPr>
          <p:cNvPr id="4" name="Rounded Rectangle 3"/>
          <p:cNvSpPr/>
          <p:nvPr/>
        </p:nvSpPr>
        <p:spPr>
          <a:xfrm>
            <a:off x="548640" y="1463040"/>
            <a:ext cx="3840480" cy="4389120"/>
          </a:xfrm>
          <a:prstGeom prst="roundRect">
            <a:avLst>
              <a:gd name="adj" fmla="val 4000"/>
            </a:avLst>
          </a:prstGeom>
          <a:solidFill>
            <a:srgbClr val="1A1A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age.jpg"/>
          <p:cNvPicPr>
            <a:picLocks noChangeAspect="1"/>
          </p:cNvPicPr>
          <p:nvPr/>
        </p:nvPicPr>
        <p:blipFill>
          <a:blip r:embed="rId4"/>
          <a:stretch>
            <a:fillRect/>
          </a:stretch>
        </p:blipFill>
        <p:spPr>
          <a:xfrm>
            <a:off x="914400" y="2103120"/>
            <a:ext cx="3108960" cy="3108960"/>
          </a:xfrm>
          <a:prstGeom prst="rect">
            <a:avLst/>
          </a:prstGeom>
        </p:spPr>
      </p:pic>
      <p:sp>
        <p:nvSpPr>
          <p:cNvPr id="6" name="Rectangle 5"/>
          <p:cNvSpPr/>
          <p:nvPr/>
        </p:nvSpPr>
        <p:spPr>
          <a:xfrm>
            <a:off x="4754880" y="137160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54880" y="1508760"/>
            <a:ext cx="6858000" cy="365760"/>
          </a:xfrm>
          <a:prstGeom prst="rect">
            <a:avLst/>
          </a:prstGeom>
          <a:noFill/>
        </p:spPr>
        <p:txBody>
          <a:bodyPr wrap="square" lIns="0" rIns="0" tIns="0" bIns="0" anchor="t">
            <a:spAutoFit/>
          </a:bodyPr>
          <a:lstStyle/>
          <a:p>
            <a:pPr algn="l"/>
            <a:r>
              <a:rPr sz="1400" b="1">
                <a:solidFill>
                  <a:srgbClr val="4AB8D2"/>
                </a:solidFill>
                <a:latin typeface="JetBrains Mono"/>
              </a:rPr>
              <a:t>SPEAKER</a:t>
            </a:r>
          </a:p>
        </p:txBody>
      </p:sp>
      <p:sp>
        <p:nvSpPr>
          <p:cNvPr id="8" name="TextBox 7"/>
          <p:cNvSpPr txBox="1"/>
          <p:nvPr/>
        </p:nvSpPr>
        <p:spPr>
          <a:xfrm>
            <a:off x="4754880" y="1920240"/>
            <a:ext cx="6858000" cy="822960"/>
          </a:xfrm>
          <a:prstGeom prst="rect">
            <a:avLst/>
          </a:prstGeom>
          <a:noFill/>
        </p:spPr>
        <p:txBody>
          <a:bodyPr wrap="square" lIns="0" rIns="0" tIns="0" bIns="0" anchor="t">
            <a:spAutoFit/>
          </a:bodyPr>
          <a:lstStyle/>
          <a:p>
            <a:pPr algn="l"/>
            <a:r>
              <a:rPr sz="4000" b="1">
                <a:solidFill>
                  <a:srgbClr val="E8E8ED"/>
                </a:solidFill>
                <a:latin typeface="Inter"/>
              </a:rPr>
              <a:t>Morten von Seelen</a:t>
            </a:r>
          </a:p>
        </p:txBody>
      </p:sp>
      <p:sp>
        <p:nvSpPr>
          <p:cNvPr id="9" name="TextBox 8"/>
          <p:cNvSpPr txBox="1"/>
          <p:nvPr/>
        </p:nvSpPr>
        <p:spPr>
          <a:xfrm>
            <a:off x="4754880" y="2788920"/>
            <a:ext cx="6858000" cy="457200"/>
          </a:xfrm>
          <a:prstGeom prst="rect">
            <a:avLst/>
          </a:prstGeom>
          <a:noFill/>
        </p:spPr>
        <p:txBody>
          <a:bodyPr wrap="square" lIns="0" rIns="0" tIns="0" bIns="0" anchor="t">
            <a:spAutoFit/>
          </a:bodyPr>
          <a:lstStyle/>
          <a:p>
            <a:pPr algn="l"/>
            <a:r>
              <a:rPr sz="2000" b="0">
                <a:solidFill>
                  <a:srgbClr val="6DD0E7"/>
                </a:solidFill>
                <a:latin typeface="Inter"/>
              </a:rPr>
              <a:t>Vice President, Truesec</a:t>
            </a:r>
          </a:p>
        </p:txBody>
      </p:sp>
      <p:sp>
        <p:nvSpPr>
          <p:cNvPr id="10" name="TextBox 9"/>
          <p:cNvSpPr txBox="1"/>
          <p:nvPr/>
        </p:nvSpPr>
        <p:spPr>
          <a:xfrm>
            <a:off x="4754880" y="3474720"/>
            <a:ext cx="6858000" cy="2103120"/>
          </a:xfrm>
          <a:prstGeom prst="rect">
            <a:avLst/>
          </a:prstGeom>
          <a:noFill/>
        </p:spPr>
        <p:txBody>
          <a:bodyPr wrap="square" lIns="0" rIns="0" tIns="0" bIns="0" anchor="t">
            <a:spAutoFit/>
          </a:bodyPr>
          <a:lstStyle/>
          <a:p>
            <a:pPr algn="l"/>
            <a:r>
              <a:rPr sz="1600" b="0">
                <a:solidFill>
                  <a:srgbClr val="8888A0"/>
                </a:solidFill>
                <a:latin typeface="Inter"/>
              </a:rPr>
              <a:t>Morten is Vice President at Truesec in Aarhus and builds cool companies. His work focuses on turning outside-in signals about real organizations into actionable risk insight at national scale.</a:t>
            </a:r>
          </a:p>
        </p:txBody>
      </p:sp>
      <p:sp>
        <p:nvSpPr>
          <p:cNvPr id="11" name="TextBox 10"/>
          <p:cNvSpPr txBox="1"/>
          <p:nvPr/>
        </p:nvSpPr>
        <p:spPr>
          <a:xfrm>
            <a:off x="4754880" y="5669280"/>
            <a:ext cx="6858000" cy="365760"/>
          </a:xfrm>
          <a:prstGeom prst="rect">
            <a:avLst/>
          </a:prstGeom>
          <a:noFill/>
        </p:spPr>
        <p:txBody>
          <a:bodyPr wrap="square" lIns="0" rIns="0" tIns="0" bIns="0" anchor="t">
            <a:spAutoFit/>
          </a:bodyPr>
          <a:lstStyle/>
          <a:p>
            <a:pPr algn="l"/>
            <a:r>
              <a:rPr sz="1400" b="0">
                <a:solidFill>
                  <a:srgbClr val="4AB8D2"/>
                </a:solidFill>
                <a:latin typeface="JetBrains Mono"/>
              </a:rPr>
              <a:t>linkedin.com/in/vonseelen  ·  tinyurl.com/MvSeeBlog</a:t>
            </a:r>
          </a:p>
        </p:txBody>
      </p:sp>
      <p:sp>
        <p:nvSpPr>
          <p:cNvPr id="12" name="TextBox 11"/>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13" name="TextBox 12"/>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Speaker</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889686" cy="658368"/>
          </a:xfrm>
          <a:prstGeom prst="rect">
            <a:avLst/>
          </a:prstGeom>
        </p:spPr>
      </p:pic>
      <p:sp>
        <p:nvSpPr>
          <p:cNvPr id="4" name="Rounded Rectangle 3"/>
          <p:cNvSpPr/>
          <p:nvPr/>
        </p:nvSpPr>
        <p:spPr>
          <a:xfrm>
            <a:off x="548640" y="1463040"/>
            <a:ext cx="3840480" cy="4389120"/>
          </a:xfrm>
          <a:prstGeom prst="roundRect">
            <a:avLst>
              <a:gd name="adj" fmla="val 4000"/>
            </a:avLst>
          </a:prstGeom>
          <a:solidFill>
            <a:srgbClr val="1A1A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age.jpg"/>
          <p:cNvPicPr>
            <a:picLocks noChangeAspect="1"/>
          </p:cNvPicPr>
          <p:nvPr/>
        </p:nvPicPr>
        <p:blipFill>
          <a:blip r:embed="rId4"/>
          <a:stretch>
            <a:fillRect/>
          </a:stretch>
        </p:blipFill>
        <p:spPr>
          <a:xfrm>
            <a:off x="914400" y="2103120"/>
            <a:ext cx="3108960" cy="3108960"/>
          </a:xfrm>
          <a:prstGeom prst="rect">
            <a:avLst/>
          </a:prstGeom>
        </p:spPr>
      </p:pic>
      <p:sp>
        <p:nvSpPr>
          <p:cNvPr id="6" name="Rectangle 5"/>
          <p:cNvSpPr/>
          <p:nvPr/>
        </p:nvSpPr>
        <p:spPr>
          <a:xfrm>
            <a:off x="4754880" y="137160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54880" y="1508760"/>
            <a:ext cx="6858000" cy="365760"/>
          </a:xfrm>
          <a:prstGeom prst="rect">
            <a:avLst/>
          </a:prstGeom>
          <a:noFill/>
        </p:spPr>
        <p:txBody>
          <a:bodyPr wrap="square" lIns="0" rIns="0" tIns="0" bIns="0" anchor="t">
            <a:spAutoFit/>
          </a:bodyPr>
          <a:lstStyle/>
          <a:p>
            <a:pPr algn="l"/>
            <a:r>
              <a:rPr sz="1400" b="1">
                <a:solidFill>
                  <a:srgbClr val="4AB8D2"/>
                </a:solidFill>
                <a:latin typeface="JetBrains Mono"/>
              </a:rPr>
              <a:t>SPEAKER</a:t>
            </a:r>
          </a:p>
        </p:txBody>
      </p:sp>
      <p:sp>
        <p:nvSpPr>
          <p:cNvPr id="8" name="TextBox 7"/>
          <p:cNvSpPr txBox="1"/>
          <p:nvPr/>
        </p:nvSpPr>
        <p:spPr>
          <a:xfrm>
            <a:off x="4754880" y="1920240"/>
            <a:ext cx="6858000" cy="822960"/>
          </a:xfrm>
          <a:prstGeom prst="rect">
            <a:avLst/>
          </a:prstGeom>
          <a:noFill/>
        </p:spPr>
        <p:txBody>
          <a:bodyPr wrap="square" lIns="0" rIns="0" tIns="0" bIns="0" anchor="t">
            <a:spAutoFit/>
          </a:bodyPr>
          <a:lstStyle/>
          <a:p>
            <a:pPr algn="l"/>
            <a:r>
              <a:rPr sz="4000" b="1">
                <a:solidFill>
                  <a:srgbClr val="E8E8ED"/>
                </a:solidFill>
                <a:latin typeface="Inter"/>
              </a:rPr>
              <a:t>Bence Soóki-Tóth</a:t>
            </a:r>
          </a:p>
        </p:txBody>
      </p:sp>
      <p:sp>
        <p:nvSpPr>
          <p:cNvPr id="9" name="TextBox 8"/>
          <p:cNvSpPr txBox="1"/>
          <p:nvPr/>
        </p:nvSpPr>
        <p:spPr>
          <a:xfrm>
            <a:off x="4754880" y="2788920"/>
            <a:ext cx="6858000" cy="457200"/>
          </a:xfrm>
          <a:prstGeom prst="rect">
            <a:avLst/>
          </a:prstGeom>
          <a:noFill/>
        </p:spPr>
        <p:txBody>
          <a:bodyPr wrap="square" lIns="0" rIns="0" tIns="0" bIns="0" anchor="t">
            <a:spAutoFit/>
          </a:bodyPr>
          <a:lstStyle/>
          <a:p>
            <a:pPr algn="l"/>
            <a:r>
              <a:rPr sz="2000" b="0">
                <a:solidFill>
                  <a:srgbClr val="6DD0E7"/>
                </a:solidFill>
                <a:latin typeface="Inter"/>
              </a:rPr>
              <a:t>Master's Student, Aarhus University</a:t>
            </a:r>
          </a:p>
        </p:txBody>
      </p:sp>
      <p:sp>
        <p:nvSpPr>
          <p:cNvPr id="10" name="TextBox 9"/>
          <p:cNvSpPr txBox="1"/>
          <p:nvPr/>
        </p:nvSpPr>
        <p:spPr>
          <a:xfrm>
            <a:off x="4754880" y="3474720"/>
            <a:ext cx="6858000" cy="2103120"/>
          </a:xfrm>
          <a:prstGeom prst="rect">
            <a:avLst/>
          </a:prstGeom>
          <a:noFill/>
        </p:spPr>
        <p:txBody>
          <a:bodyPr wrap="square" lIns="0" rIns="0" tIns="0" bIns="0" anchor="t">
            <a:spAutoFit/>
          </a:bodyPr>
          <a:lstStyle/>
          <a:p>
            <a:pPr algn="l"/>
            <a:r>
              <a:rPr sz="1600" b="0">
                <a:solidFill>
                  <a:srgbClr val="8888A0"/>
                </a:solidFill>
                <a:latin typeface="Inter"/>
              </a:rPr>
              <a:t>Bence is a Master's student at Aarhus University and a research assistant at Eötvös Loránd University, working at the intersection of cryptography, game theory, and consensus protocols.</a:t>
            </a:r>
          </a:p>
        </p:txBody>
      </p:sp>
      <p:sp>
        <p:nvSpPr>
          <p:cNvPr id="11" name="TextBox 10"/>
          <p:cNvSpPr txBox="1"/>
          <p:nvPr/>
        </p:nvSpPr>
        <p:spPr>
          <a:xfrm>
            <a:off x="4754880" y="5669280"/>
            <a:ext cx="6858000" cy="365760"/>
          </a:xfrm>
          <a:prstGeom prst="rect">
            <a:avLst/>
          </a:prstGeom>
          <a:noFill/>
        </p:spPr>
        <p:txBody>
          <a:bodyPr wrap="square" lIns="0" rIns="0" tIns="0" bIns="0" anchor="t">
            <a:spAutoFit/>
          </a:bodyPr>
          <a:lstStyle/>
          <a:p>
            <a:pPr algn="l"/>
            <a:r>
              <a:rPr sz="1400" b="0">
                <a:solidFill>
                  <a:srgbClr val="4AB8D2"/>
                </a:solidFill>
                <a:latin typeface="JetBrains Mono"/>
              </a:rPr>
              <a:t>linkedin.com/in/stbence  ·  0xsooki.github.io</a:t>
            </a:r>
          </a:p>
        </p:txBody>
      </p:sp>
      <p:sp>
        <p:nvSpPr>
          <p:cNvPr id="12" name="TextBox 11"/>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13" name="TextBox 12"/>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Speaker</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889686" cy="658368"/>
          </a:xfrm>
          <a:prstGeom prst="rect">
            <a:avLst/>
          </a:prstGeom>
        </p:spPr>
      </p:pic>
      <p:sp>
        <p:nvSpPr>
          <p:cNvPr id="4" name="Rounded Rectangle 3"/>
          <p:cNvSpPr/>
          <p:nvPr/>
        </p:nvSpPr>
        <p:spPr>
          <a:xfrm>
            <a:off x="548640" y="1463040"/>
            <a:ext cx="3840480" cy="4389120"/>
          </a:xfrm>
          <a:prstGeom prst="roundRect">
            <a:avLst>
              <a:gd name="adj" fmla="val 4000"/>
            </a:avLst>
          </a:prstGeom>
          <a:solidFill>
            <a:srgbClr val="1A1A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age.jpg"/>
          <p:cNvPicPr>
            <a:picLocks noChangeAspect="1"/>
          </p:cNvPicPr>
          <p:nvPr/>
        </p:nvPicPr>
        <p:blipFill>
          <a:blip r:embed="rId4"/>
          <a:stretch>
            <a:fillRect/>
          </a:stretch>
        </p:blipFill>
        <p:spPr>
          <a:xfrm>
            <a:off x="914400" y="2103120"/>
            <a:ext cx="3108960" cy="3108960"/>
          </a:xfrm>
          <a:prstGeom prst="rect">
            <a:avLst/>
          </a:prstGeom>
        </p:spPr>
      </p:pic>
      <p:sp>
        <p:nvSpPr>
          <p:cNvPr id="6" name="Rectangle 5"/>
          <p:cNvSpPr/>
          <p:nvPr/>
        </p:nvSpPr>
        <p:spPr>
          <a:xfrm>
            <a:off x="4754880" y="137160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54880" y="1508760"/>
            <a:ext cx="6858000" cy="365760"/>
          </a:xfrm>
          <a:prstGeom prst="rect">
            <a:avLst/>
          </a:prstGeom>
          <a:noFill/>
        </p:spPr>
        <p:txBody>
          <a:bodyPr wrap="square" lIns="0" rIns="0" tIns="0" bIns="0" anchor="t">
            <a:spAutoFit/>
          </a:bodyPr>
          <a:lstStyle/>
          <a:p>
            <a:pPr algn="l"/>
            <a:r>
              <a:rPr sz="1400" b="1">
                <a:solidFill>
                  <a:srgbClr val="4AB8D2"/>
                </a:solidFill>
                <a:latin typeface="JetBrains Mono"/>
              </a:rPr>
              <a:t>SPEAKER</a:t>
            </a:r>
          </a:p>
        </p:txBody>
      </p:sp>
      <p:sp>
        <p:nvSpPr>
          <p:cNvPr id="8" name="TextBox 7"/>
          <p:cNvSpPr txBox="1"/>
          <p:nvPr/>
        </p:nvSpPr>
        <p:spPr>
          <a:xfrm>
            <a:off x="4754880" y="1920240"/>
            <a:ext cx="6858000" cy="822960"/>
          </a:xfrm>
          <a:prstGeom prst="rect">
            <a:avLst/>
          </a:prstGeom>
          <a:noFill/>
        </p:spPr>
        <p:txBody>
          <a:bodyPr wrap="square" lIns="0" rIns="0" tIns="0" bIns="0" anchor="t">
            <a:spAutoFit/>
          </a:bodyPr>
          <a:lstStyle/>
          <a:p>
            <a:pPr algn="l"/>
            <a:r>
              <a:rPr sz="4000" b="1">
                <a:solidFill>
                  <a:srgbClr val="E8E8ED"/>
                </a:solidFill>
                <a:latin typeface="Inter"/>
              </a:rPr>
              <a:t>Eleni Ioakeim</a:t>
            </a:r>
          </a:p>
        </p:txBody>
      </p:sp>
      <p:sp>
        <p:nvSpPr>
          <p:cNvPr id="9" name="TextBox 8"/>
          <p:cNvSpPr txBox="1"/>
          <p:nvPr/>
        </p:nvSpPr>
        <p:spPr>
          <a:xfrm>
            <a:off x="4754880" y="2788920"/>
            <a:ext cx="6858000" cy="457200"/>
          </a:xfrm>
          <a:prstGeom prst="rect">
            <a:avLst/>
          </a:prstGeom>
          <a:noFill/>
        </p:spPr>
        <p:txBody>
          <a:bodyPr wrap="square" lIns="0" rIns="0" tIns="0" bIns="0" anchor="t">
            <a:spAutoFit/>
          </a:bodyPr>
          <a:lstStyle/>
          <a:p>
            <a:pPr algn="l"/>
            <a:r>
              <a:rPr sz="2000" b="0">
                <a:solidFill>
                  <a:srgbClr val="6DD0E7"/>
                </a:solidFill>
                <a:latin typeface="Inter"/>
              </a:rPr>
              <a:t>OT Threat Analyst, Truesec</a:t>
            </a:r>
          </a:p>
        </p:txBody>
      </p:sp>
      <p:sp>
        <p:nvSpPr>
          <p:cNvPr id="10" name="TextBox 9"/>
          <p:cNvSpPr txBox="1"/>
          <p:nvPr/>
        </p:nvSpPr>
        <p:spPr>
          <a:xfrm>
            <a:off x="4754880" y="3474720"/>
            <a:ext cx="6858000" cy="2103120"/>
          </a:xfrm>
          <a:prstGeom prst="rect">
            <a:avLst/>
          </a:prstGeom>
          <a:noFill/>
        </p:spPr>
        <p:txBody>
          <a:bodyPr wrap="square" lIns="0" rIns="0" tIns="0" bIns="0" anchor="t">
            <a:spAutoFit/>
          </a:bodyPr>
          <a:lstStyle/>
          <a:p>
            <a:pPr algn="l"/>
            <a:r>
              <a:rPr sz="1600" b="0">
                <a:solidFill>
                  <a:srgbClr val="8888A0"/>
                </a:solidFill>
                <a:latin typeface="Inter"/>
              </a:rPr>
              <a:t>Eleni is an OT Threat Analyst at Truesec SOC in Copenhagen, with expertise in OT network security monitoring. Her work contributes to improving SOC processes and detection capabilities for ICS environments.</a:t>
            </a:r>
          </a:p>
        </p:txBody>
      </p:sp>
      <p:sp>
        <p:nvSpPr>
          <p:cNvPr id="11" name="TextBox 10"/>
          <p:cNvSpPr txBox="1"/>
          <p:nvPr/>
        </p:nvSpPr>
        <p:spPr>
          <a:xfrm>
            <a:off x="4754880" y="5669280"/>
            <a:ext cx="6858000" cy="365760"/>
          </a:xfrm>
          <a:prstGeom prst="rect">
            <a:avLst/>
          </a:prstGeom>
          <a:noFill/>
        </p:spPr>
        <p:txBody>
          <a:bodyPr wrap="square" lIns="0" rIns="0" tIns="0" bIns="0" anchor="t">
            <a:spAutoFit/>
          </a:bodyPr>
          <a:lstStyle/>
          <a:p>
            <a:pPr algn="l"/>
            <a:r>
              <a:rPr sz="1400" b="0">
                <a:solidFill>
                  <a:srgbClr val="4AB8D2"/>
                </a:solidFill>
                <a:latin typeface="JetBrains Mono"/>
              </a:rPr>
              <a:t>linkedin.com/in/eleni-ioakeim-9bb262aa</a:t>
            </a:r>
          </a:p>
        </p:txBody>
      </p:sp>
      <p:sp>
        <p:nvSpPr>
          <p:cNvPr id="12" name="TextBox 11"/>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13" name="TextBox 12"/>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Speaker</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889686" cy="658368"/>
          </a:xfrm>
          <a:prstGeom prst="rect">
            <a:avLst/>
          </a:prstGeom>
        </p:spPr>
      </p:pic>
      <p:sp>
        <p:nvSpPr>
          <p:cNvPr id="4" name="Rounded Rectangle 3"/>
          <p:cNvSpPr/>
          <p:nvPr/>
        </p:nvSpPr>
        <p:spPr>
          <a:xfrm>
            <a:off x="548640" y="1463040"/>
            <a:ext cx="3840480" cy="4389120"/>
          </a:xfrm>
          <a:prstGeom prst="roundRect">
            <a:avLst>
              <a:gd name="adj" fmla="val 4000"/>
            </a:avLst>
          </a:prstGeom>
          <a:solidFill>
            <a:srgbClr val="1A1A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age.jpg"/>
          <p:cNvPicPr>
            <a:picLocks noChangeAspect="1"/>
          </p:cNvPicPr>
          <p:nvPr/>
        </p:nvPicPr>
        <p:blipFill>
          <a:blip r:embed="rId4"/>
          <a:stretch>
            <a:fillRect/>
          </a:stretch>
        </p:blipFill>
        <p:spPr>
          <a:xfrm>
            <a:off x="914400" y="2103120"/>
            <a:ext cx="3108960" cy="3108960"/>
          </a:xfrm>
          <a:prstGeom prst="rect">
            <a:avLst/>
          </a:prstGeom>
        </p:spPr>
      </p:pic>
      <p:sp>
        <p:nvSpPr>
          <p:cNvPr id="6" name="Rectangle 5"/>
          <p:cNvSpPr/>
          <p:nvPr/>
        </p:nvSpPr>
        <p:spPr>
          <a:xfrm>
            <a:off x="4754880" y="137160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54880" y="1508760"/>
            <a:ext cx="6858000" cy="365760"/>
          </a:xfrm>
          <a:prstGeom prst="rect">
            <a:avLst/>
          </a:prstGeom>
          <a:noFill/>
        </p:spPr>
        <p:txBody>
          <a:bodyPr wrap="square" lIns="0" rIns="0" tIns="0" bIns="0" anchor="t">
            <a:spAutoFit/>
          </a:bodyPr>
          <a:lstStyle/>
          <a:p>
            <a:pPr algn="l"/>
            <a:r>
              <a:rPr sz="1400" b="1">
                <a:solidFill>
                  <a:srgbClr val="4AB8D2"/>
                </a:solidFill>
                <a:latin typeface="JetBrains Mono"/>
              </a:rPr>
              <a:t>SPEAKER</a:t>
            </a:r>
          </a:p>
        </p:txBody>
      </p:sp>
      <p:sp>
        <p:nvSpPr>
          <p:cNvPr id="8" name="TextBox 7"/>
          <p:cNvSpPr txBox="1"/>
          <p:nvPr/>
        </p:nvSpPr>
        <p:spPr>
          <a:xfrm>
            <a:off x="4754880" y="1920240"/>
            <a:ext cx="6858000" cy="822960"/>
          </a:xfrm>
          <a:prstGeom prst="rect">
            <a:avLst/>
          </a:prstGeom>
          <a:noFill/>
        </p:spPr>
        <p:txBody>
          <a:bodyPr wrap="square" lIns="0" rIns="0" tIns="0" bIns="0" anchor="t">
            <a:spAutoFit/>
          </a:bodyPr>
          <a:lstStyle/>
          <a:p>
            <a:pPr algn="l"/>
            <a:r>
              <a:rPr sz="4000" b="1">
                <a:solidFill>
                  <a:srgbClr val="E8E8ED"/>
                </a:solidFill>
                <a:latin typeface="Inter"/>
              </a:rPr>
              <a:t>Joost van Dijk</a:t>
            </a:r>
          </a:p>
        </p:txBody>
      </p:sp>
      <p:sp>
        <p:nvSpPr>
          <p:cNvPr id="9" name="TextBox 8"/>
          <p:cNvSpPr txBox="1"/>
          <p:nvPr/>
        </p:nvSpPr>
        <p:spPr>
          <a:xfrm>
            <a:off x="4754880" y="2788920"/>
            <a:ext cx="6858000" cy="457200"/>
          </a:xfrm>
          <a:prstGeom prst="rect">
            <a:avLst/>
          </a:prstGeom>
          <a:noFill/>
        </p:spPr>
        <p:txBody>
          <a:bodyPr wrap="square" lIns="0" rIns="0" tIns="0" bIns="0" anchor="t">
            <a:spAutoFit/>
          </a:bodyPr>
          <a:lstStyle/>
          <a:p>
            <a:pPr algn="l"/>
            <a:r>
              <a:rPr sz="2000" b="0">
                <a:solidFill>
                  <a:srgbClr val="6DD0E7"/>
                </a:solidFill>
                <a:latin typeface="Inter"/>
              </a:rPr>
              <a:t>Developer Advocate, Yubico</a:t>
            </a:r>
          </a:p>
        </p:txBody>
      </p:sp>
      <p:sp>
        <p:nvSpPr>
          <p:cNvPr id="10" name="TextBox 9"/>
          <p:cNvSpPr txBox="1"/>
          <p:nvPr/>
        </p:nvSpPr>
        <p:spPr>
          <a:xfrm>
            <a:off x="4754880" y="3474720"/>
            <a:ext cx="6858000" cy="2103120"/>
          </a:xfrm>
          <a:prstGeom prst="rect">
            <a:avLst/>
          </a:prstGeom>
          <a:noFill/>
        </p:spPr>
        <p:txBody>
          <a:bodyPr wrap="square" lIns="0" rIns="0" tIns="0" bIns="0" anchor="t">
            <a:spAutoFit/>
          </a:bodyPr>
          <a:lstStyle/>
          <a:p>
            <a:pPr algn="l"/>
            <a:r>
              <a:rPr sz="1600" b="0">
                <a:solidFill>
                  <a:srgbClr val="8888A0"/>
                </a:solidFill>
                <a:latin typeface="Inter"/>
              </a:rPr>
              <a:t>Joost is a Developer Advocate at Yubico and a security and privacy professional with deep expertise in federated single sign-on, multi-factor authentication, FIDO, passkeys, PKI, TLS, and hardware security.</a:t>
            </a:r>
          </a:p>
        </p:txBody>
      </p:sp>
      <p:sp>
        <p:nvSpPr>
          <p:cNvPr id="11" name="TextBox 10"/>
          <p:cNvSpPr txBox="1"/>
          <p:nvPr/>
        </p:nvSpPr>
        <p:spPr>
          <a:xfrm>
            <a:off x="4754880" y="5669280"/>
            <a:ext cx="6858000" cy="365760"/>
          </a:xfrm>
          <a:prstGeom prst="rect">
            <a:avLst/>
          </a:prstGeom>
          <a:noFill/>
        </p:spPr>
        <p:txBody>
          <a:bodyPr wrap="square" lIns="0" rIns="0" tIns="0" bIns="0" anchor="t">
            <a:spAutoFit/>
          </a:bodyPr>
          <a:lstStyle/>
          <a:p>
            <a:pPr algn="l"/>
            <a:r>
              <a:rPr sz="1400" b="0">
                <a:solidFill>
                  <a:srgbClr val="4AB8D2"/>
                </a:solidFill>
                <a:latin typeface="JetBrains Mono"/>
              </a:rPr>
              <a:t>linkedin.com/in/joostd</a:t>
            </a:r>
          </a:p>
        </p:txBody>
      </p:sp>
      <p:sp>
        <p:nvSpPr>
          <p:cNvPr id="12" name="TextBox 11"/>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13" name="TextBox 12"/>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Speaker</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889686" cy="658368"/>
          </a:xfrm>
          <a:prstGeom prst="rect">
            <a:avLst/>
          </a:prstGeom>
        </p:spPr>
      </p:pic>
      <p:sp>
        <p:nvSpPr>
          <p:cNvPr id="4" name="Rounded Rectangle 3"/>
          <p:cNvSpPr/>
          <p:nvPr/>
        </p:nvSpPr>
        <p:spPr>
          <a:xfrm>
            <a:off x="548640" y="1463040"/>
            <a:ext cx="3840480" cy="4389120"/>
          </a:xfrm>
          <a:prstGeom prst="roundRect">
            <a:avLst>
              <a:gd name="adj" fmla="val 4000"/>
            </a:avLst>
          </a:prstGeom>
          <a:solidFill>
            <a:srgbClr val="1A1A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age.jpg"/>
          <p:cNvPicPr>
            <a:picLocks noChangeAspect="1"/>
          </p:cNvPicPr>
          <p:nvPr/>
        </p:nvPicPr>
        <p:blipFill>
          <a:blip r:embed="rId4"/>
          <a:stretch>
            <a:fillRect/>
          </a:stretch>
        </p:blipFill>
        <p:spPr>
          <a:xfrm>
            <a:off x="914400" y="2103120"/>
            <a:ext cx="3108960" cy="3108960"/>
          </a:xfrm>
          <a:prstGeom prst="rect">
            <a:avLst/>
          </a:prstGeom>
        </p:spPr>
      </p:pic>
      <p:sp>
        <p:nvSpPr>
          <p:cNvPr id="6" name="Rectangle 5"/>
          <p:cNvSpPr/>
          <p:nvPr/>
        </p:nvSpPr>
        <p:spPr>
          <a:xfrm>
            <a:off x="4754880" y="137160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54880" y="1508760"/>
            <a:ext cx="6858000" cy="365760"/>
          </a:xfrm>
          <a:prstGeom prst="rect">
            <a:avLst/>
          </a:prstGeom>
          <a:noFill/>
        </p:spPr>
        <p:txBody>
          <a:bodyPr wrap="square" lIns="0" rIns="0" tIns="0" bIns="0" anchor="t">
            <a:spAutoFit/>
          </a:bodyPr>
          <a:lstStyle/>
          <a:p>
            <a:pPr algn="l"/>
            <a:r>
              <a:rPr sz="1400" b="1">
                <a:solidFill>
                  <a:srgbClr val="4AB8D2"/>
                </a:solidFill>
                <a:latin typeface="JetBrains Mono"/>
              </a:rPr>
              <a:t>SPEAKER</a:t>
            </a:r>
          </a:p>
        </p:txBody>
      </p:sp>
      <p:sp>
        <p:nvSpPr>
          <p:cNvPr id="8" name="TextBox 7"/>
          <p:cNvSpPr txBox="1"/>
          <p:nvPr/>
        </p:nvSpPr>
        <p:spPr>
          <a:xfrm>
            <a:off x="4754880" y="1920240"/>
            <a:ext cx="6858000" cy="822960"/>
          </a:xfrm>
          <a:prstGeom prst="rect">
            <a:avLst/>
          </a:prstGeom>
          <a:noFill/>
        </p:spPr>
        <p:txBody>
          <a:bodyPr wrap="square" lIns="0" rIns="0" tIns="0" bIns="0" anchor="t">
            <a:spAutoFit/>
          </a:bodyPr>
          <a:lstStyle/>
          <a:p>
            <a:pPr algn="l"/>
            <a:r>
              <a:rPr sz="4000" b="1">
                <a:solidFill>
                  <a:srgbClr val="E8E8ED"/>
                </a:solidFill>
                <a:latin typeface="Inter"/>
              </a:rPr>
              <a:t>Kasper Hald</a:t>
            </a:r>
          </a:p>
        </p:txBody>
      </p:sp>
      <p:sp>
        <p:nvSpPr>
          <p:cNvPr id="9" name="TextBox 8"/>
          <p:cNvSpPr txBox="1"/>
          <p:nvPr/>
        </p:nvSpPr>
        <p:spPr>
          <a:xfrm>
            <a:off x="4754880" y="2788920"/>
            <a:ext cx="6858000" cy="457200"/>
          </a:xfrm>
          <a:prstGeom prst="rect">
            <a:avLst/>
          </a:prstGeom>
          <a:noFill/>
        </p:spPr>
        <p:txBody>
          <a:bodyPr wrap="square" lIns="0" rIns="0" tIns="0" bIns="0" anchor="t">
            <a:spAutoFit/>
          </a:bodyPr>
          <a:lstStyle/>
          <a:p>
            <a:pPr algn="l"/>
            <a:r>
              <a:rPr sz="2000" b="0">
                <a:solidFill>
                  <a:srgbClr val="6DD0E7"/>
                </a:solidFill>
                <a:latin typeface="Inter"/>
              </a:rPr>
              <a:t>Freelance Consultant, ApplSec Consult</a:t>
            </a:r>
          </a:p>
        </p:txBody>
      </p:sp>
      <p:sp>
        <p:nvSpPr>
          <p:cNvPr id="10" name="TextBox 9"/>
          <p:cNvSpPr txBox="1"/>
          <p:nvPr/>
        </p:nvSpPr>
        <p:spPr>
          <a:xfrm>
            <a:off x="4754880" y="3474720"/>
            <a:ext cx="6858000" cy="2103120"/>
          </a:xfrm>
          <a:prstGeom prst="rect">
            <a:avLst/>
          </a:prstGeom>
          <a:noFill/>
        </p:spPr>
        <p:txBody>
          <a:bodyPr wrap="square" lIns="0" rIns="0" tIns="0" bIns="0" anchor="t">
            <a:spAutoFit/>
          </a:bodyPr>
          <a:lstStyle/>
          <a:p>
            <a:pPr algn="l"/>
            <a:r>
              <a:rPr sz="1600" b="0">
                <a:solidFill>
                  <a:srgbClr val="8888A0"/>
                </a:solidFill>
                <a:latin typeface="Inter"/>
              </a:rPr>
              <a:t>With an educational background in quantum theory and 20+ years within application security, this topic is where Kasper's past and present meet.</a:t>
            </a:r>
          </a:p>
        </p:txBody>
      </p:sp>
      <p:sp>
        <p:nvSpPr>
          <p:cNvPr id="11" name="TextBox 10"/>
          <p:cNvSpPr txBox="1"/>
          <p:nvPr/>
        </p:nvSpPr>
        <p:spPr>
          <a:xfrm>
            <a:off x="4754880" y="5669280"/>
            <a:ext cx="6858000" cy="365760"/>
          </a:xfrm>
          <a:prstGeom prst="rect">
            <a:avLst/>
          </a:prstGeom>
          <a:noFill/>
        </p:spPr>
        <p:txBody>
          <a:bodyPr wrap="square" lIns="0" rIns="0" tIns="0" bIns="0" anchor="t">
            <a:spAutoFit/>
          </a:bodyPr>
          <a:lstStyle/>
          <a:p>
            <a:pPr algn="l"/>
            <a:r>
              <a:rPr sz="1400" b="0">
                <a:solidFill>
                  <a:srgbClr val="4AB8D2"/>
                </a:solidFill>
                <a:latin typeface="JetBrains Mono"/>
              </a:rPr>
              <a:t>linkedin.com/in/kasper-hald-6622623</a:t>
            </a:r>
          </a:p>
        </p:txBody>
      </p:sp>
      <p:sp>
        <p:nvSpPr>
          <p:cNvPr id="12" name="TextBox 11"/>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13" name="TextBox 12"/>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Speaker</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889686" cy="658368"/>
          </a:xfrm>
          <a:prstGeom prst="rect">
            <a:avLst/>
          </a:prstGeom>
        </p:spPr>
      </p:pic>
      <p:sp>
        <p:nvSpPr>
          <p:cNvPr id="4" name="Rounded Rectangle 3"/>
          <p:cNvSpPr/>
          <p:nvPr/>
        </p:nvSpPr>
        <p:spPr>
          <a:xfrm>
            <a:off x="548640" y="1463040"/>
            <a:ext cx="3840480" cy="4389120"/>
          </a:xfrm>
          <a:prstGeom prst="roundRect">
            <a:avLst>
              <a:gd name="adj" fmla="val 4000"/>
            </a:avLst>
          </a:prstGeom>
          <a:solidFill>
            <a:srgbClr val="1A1A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age.jpg"/>
          <p:cNvPicPr>
            <a:picLocks noChangeAspect="1"/>
          </p:cNvPicPr>
          <p:nvPr/>
        </p:nvPicPr>
        <p:blipFill>
          <a:blip r:embed="rId4"/>
          <a:stretch>
            <a:fillRect/>
          </a:stretch>
        </p:blipFill>
        <p:spPr>
          <a:xfrm>
            <a:off x="914400" y="2103120"/>
            <a:ext cx="3108960" cy="3108960"/>
          </a:xfrm>
          <a:prstGeom prst="rect">
            <a:avLst/>
          </a:prstGeom>
        </p:spPr>
      </p:pic>
      <p:sp>
        <p:nvSpPr>
          <p:cNvPr id="6" name="Rectangle 5"/>
          <p:cNvSpPr/>
          <p:nvPr/>
        </p:nvSpPr>
        <p:spPr>
          <a:xfrm>
            <a:off x="4754880" y="137160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54880" y="1508760"/>
            <a:ext cx="6858000" cy="365760"/>
          </a:xfrm>
          <a:prstGeom prst="rect">
            <a:avLst/>
          </a:prstGeom>
          <a:noFill/>
        </p:spPr>
        <p:txBody>
          <a:bodyPr wrap="square" lIns="0" rIns="0" tIns="0" bIns="0" anchor="t">
            <a:spAutoFit/>
          </a:bodyPr>
          <a:lstStyle/>
          <a:p>
            <a:pPr algn="l"/>
            <a:r>
              <a:rPr sz="1400" b="1">
                <a:solidFill>
                  <a:srgbClr val="4AB8D2"/>
                </a:solidFill>
                <a:latin typeface="JetBrains Mono"/>
              </a:rPr>
              <a:t>SPEAKER</a:t>
            </a:r>
          </a:p>
        </p:txBody>
      </p:sp>
      <p:sp>
        <p:nvSpPr>
          <p:cNvPr id="8" name="TextBox 7"/>
          <p:cNvSpPr txBox="1"/>
          <p:nvPr/>
        </p:nvSpPr>
        <p:spPr>
          <a:xfrm>
            <a:off x="4754880" y="1920240"/>
            <a:ext cx="6858000" cy="822960"/>
          </a:xfrm>
          <a:prstGeom prst="rect">
            <a:avLst/>
          </a:prstGeom>
          <a:noFill/>
        </p:spPr>
        <p:txBody>
          <a:bodyPr wrap="square" lIns="0" rIns="0" tIns="0" bIns="0" anchor="t">
            <a:spAutoFit/>
          </a:bodyPr>
          <a:lstStyle/>
          <a:p>
            <a:pPr algn="l"/>
            <a:r>
              <a:rPr sz="4000" b="1">
                <a:solidFill>
                  <a:srgbClr val="E8E8ED"/>
                </a:solidFill>
                <a:latin typeface="Inter"/>
              </a:rPr>
              <a:t>Tom Kern</a:t>
            </a:r>
          </a:p>
        </p:txBody>
      </p:sp>
      <p:sp>
        <p:nvSpPr>
          <p:cNvPr id="9" name="TextBox 8"/>
          <p:cNvSpPr txBox="1"/>
          <p:nvPr/>
        </p:nvSpPr>
        <p:spPr>
          <a:xfrm>
            <a:off x="4754880" y="2788920"/>
            <a:ext cx="6858000" cy="457200"/>
          </a:xfrm>
          <a:prstGeom prst="rect">
            <a:avLst/>
          </a:prstGeom>
          <a:noFill/>
        </p:spPr>
        <p:txBody>
          <a:bodyPr wrap="square" lIns="0" rIns="0" tIns="0" bIns="0" anchor="t">
            <a:spAutoFit/>
          </a:bodyPr>
          <a:lstStyle/>
          <a:p>
            <a:pPr algn="l"/>
            <a:r>
              <a:rPr sz="2000" b="0">
                <a:solidFill>
                  <a:srgbClr val="6DD0E7"/>
                </a:solidFill>
                <a:latin typeface="Inter"/>
              </a:rPr>
              <a:t>SecOps Automation Lead, Conscia MDR</a:t>
            </a:r>
          </a:p>
        </p:txBody>
      </p:sp>
      <p:sp>
        <p:nvSpPr>
          <p:cNvPr id="10" name="TextBox 9"/>
          <p:cNvSpPr txBox="1"/>
          <p:nvPr/>
        </p:nvSpPr>
        <p:spPr>
          <a:xfrm>
            <a:off x="4754880" y="3474720"/>
            <a:ext cx="6858000" cy="2103120"/>
          </a:xfrm>
          <a:prstGeom prst="rect">
            <a:avLst/>
          </a:prstGeom>
          <a:noFill/>
        </p:spPr>
        <p:txBody>
          <a:bodyPr wrap="square" lIns="0" rIns="0" tIns="0" bIns="0" anchor="t">
            <a:spAutoFit/>
          </a:bodyPr>
          <a:lstStyle/>
          <a:p>
            <a:pPr algn="l"/>
            <a:r>
              <a:rPr sz="1600" b="0">
                <a:solidFill>
                  <a:srgbClr val="8888A0"/>
                </a:solidFill>
                <a:latin typeface="Inter"/>
              </a:rPr>
              <a:t>Tom is a founding member of Conscia's Managed Detection and Response service, now protecting over 250,000 endpoints across Europe. As SecOps Automation Lead, his contributions include technical architecture, detection engineering, and automating security operations.</a:t>
            </a:r>
          </a:p>
        </p:txBody>
      </p:sp>
      <p:sp>
        <p:nvSpPr>
          <p:cNvPr id="11" name="TextBox 10"/>
          <p:cNvSpPr txBox="1"/>
          <p:nvPr/>
        </p:nvSpPr>
        <p:spPr>
          <a:xfrm>
            <a:off x="4754880" y="5669280"/>
            <a:ext cx="6858000" cy="365760"/>
          </a:xfrm>
          <a:prstGeom prst="rect">
            <a:avLst/>
          </a:prstGeom>
          <a:noFill/>
        </p:spPr>
        <p:txBody>
          <a:bodyPr wrap="square" lIns="0" rIns="0" tIns="0" bIns="0" anchor="t">
            <a:spAutoFit/>
          </a:bodyPr>
          <a:lstStyle/>
          <a:p>
            <a:pPr algn="l"/>
            <a:r>
              <a:rPr sz="1400" b="0">
                <a:solidFill>
                  <a:srgbClr val="4AB8D2"/>
                </a:solidFill>
                <a:latin typeface="JetBrains Mono"/>
              </a:rPr>
              <a:t>linkedin.com/in/kerntom  ·  truly-smart.eu</a:t>
            </a:r>
          </a:p>
        </p:txBody>
      </p:sp>
      <p:sp>
        <p:nvSpPr>
          <p:cNvPr id="12" name="TextBox 11"/>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13" name="TextBox 12"/>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Speaker</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